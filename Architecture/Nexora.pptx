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2" r:id="rId5"/>
    <p:sldId id="277" r:id="rId6"/>
    <p:sldId id="264" r:id="rId7"/>
    <p:sldId id="263" r:id="rId8"/>
    <p:sldId id="267" r:id="rId9"/>
    <p:sldId id="268" r:id="rId10"/>
    <p:sldId id="265" r:id="rId11"/>
    <p:sldId id="266" r:id="rId12"/>
    <p:sldId id="272" r:id="rId13"/>
    <p:sldId id="271" r:id="rId14"/>
    <p:sldId id="270" r:id="rId15"/>
    <p:sldId id="269" r:id="rId16"/>
    <p:sldId id="273" r:id="rId17"/>
    <p:sldId id="275" r:id="rId18"/>
    <p:sldId id="260" r:id="rId19"/>
    <p:sldId id="276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nkar Santosh Pawar" userId="41dc9a1d-4bf4-4c1f-8297-42bce17606ba" providerId="ADAL" clId="{A8AF2007-9049-4489-A0C9-770A000DFB7E}"/>
    <pc:docChg chg="undo custSel addSld delSld modSld">
      <pc:chgData name="Deepankar Santosh Pawar" userId="41dc9a1d-4bf4-4c1f-8297-42bce17606ba" providerId="ADAL" clId="{A8AF2007-9049-4489-A0C9-770A000DFB7E}" dt="2025-09-05T09:55:19.517" v="218" actId="1076"/>
      <pc:docMkLst>
        <pc:docMk/>
      </pc:docMkLst>
      <pc:sldChg chg="modSp mod">
        <pc:chgData name="Deepankar Santosh Pawar" userId="41dc9a1d-4bf4-4c1f-8297-42bce17606ba" providerId="ADAL" clId="{A8AF2007-9049-4489-A0C9-770A000DFB7E}" dt="2025-08-28T12:26:54.383" v="26" actId="1076"/>
        <pc:sldMkLst>
          <pc:docMk/>
          <pc:sldMk cId="289451562" sldId="266"/>
        </pc:sldMkLst>
        <pc:spChg chg="mod">
          <ac:chgData name="Deepankar Santosh Pawar" userId="41dc9a1d-4bf4-4c1f-8297-42bce17606ba" providerId="ADAL" clId="{A8AF2007-9049-4489-A0C9-770A000DFB7E}" dt="2025-08-28T12:26:54.383" v="26" actId="1076"/>
          <ac:spMkLst>
            <pc:docMk/>
            <pc:sldMk cId="289451562" sldId="266"/>
            <ac:spMk id="7" creationId="{5AEC1274-9789-CE82-FDBB-626E95B4E2C5}"/>
          </ac:spMkLst>
        </pc:spChg>
      </pc:sldChg>
      <pc:sldChg chg="addSp delSp modSp new mod">
        <pc:chgData name="Deepankar Santosh Pawar" userId="41dc9a1d-4bf4-4c1f-8297-42bce17606ba" providerId="ADAL" clId="{A8AF2007-9049-4489-A0C9-770A000DFB7E}" dt="2025-08-28T12:25:36.968" v="25" actId="692"/>
        <pc:sldMkLst>
          <pc:docMk/>
          <pc:sldMk cId="1770915730" sldId="269"/>
        </pc:sldMkLst>
        <pc:spChg chg="add mod">
          <ac:chgData name="Deepankar Santosh Pawar" userId="41dc9a1d-4bf4-4c1f-8297-42bce17606ba" providerId="ADAL" clId="{A8AF2007-9049-4489-A0C9-770A000DFB7E}" dt="2025-08-28T12:25:36.968" v="25" actId="692"/>
          <ac:spMkLst>
            <pc:docMk/>
            <pc:sldMk cId="1770915730" sldId="269"/>
            <ac:spMk id="5" creationId="{02ACDA2D-ACCA-0F0B-BC38-96E61A026F0D}"/>
          </ac:spMkLst>
        </pc:spChg>
        <pc:spChg chg="add mod">
          <ac:chgData name="Deepankar Santosh Pawar" userId="41dc9a1d-4bf4-4c1f-8297-42bce17606ba" providerId="ADAL" clId="{A8AF2007-9049-4489-A0C9-770A000DFB7E}" dt="2025-08-28T12:25:33.851" v="24" actId="207"/>
          <ac:spMkLst>
            <pc:docMk/>
            <pc:sldMk cId="1770915730" sldId="269"/>
            <ac:spMk id="7" creationId="{BD6BEFD1-3EA2-14BE-8D7A-28842BB16FA7}"/>
          </ac:spMkLst>
        </pc:spChg>
      </pc:sldChg>
      <pc:sldChg chg="addSp delSp modSp new mod">
        <pc:chgData name="Deepankar Santosh Pawar" userId="41dc9a1d-4bf4-4c1f-8297-42bce17606ba" providerId="ADAL" clId="{A8AF2007-9049-4489-A0C9-770A000DFB7E}" dt="2025-08-28T12:30:59.969" v="53" actId="14100"/>
        <pc:sldMkLst>
          <pc:docMk/>
          <pc:sldMk cId="141602717" sldId="270"/>
        </pc:sldMkLst>
        <pc:spChg chg="add mod">
          <ac:chgData name="Deepankar Santosh Pawar" userId="41dc9a1d-4bf4-4c1f-8297-42bce17606ba" providerId="ADAL" clId="{A8AF2007-9049-4489-A0C9-770A000DFB7E}" dt="2025-08-28T12:30:56.161" v="52" actId="1076"/>
          <ac:spMkLst>
            <pc:docMk/>
            <pc:sldMk cId="141602717" sldId="270"/>
            <ac:spMk id="14" creationId="{0E5B2A00-C962-8C3D-C9BA-F970CC7D1C48}"/>
          </ac:spMkLst>
        </pc:spChg>
        <pc:spChg chg="add mod">
          <ac:chgData name="Deepankar Santosh Pawar" userId="41dc9a1d-4bf4-4c1f-8297-42bce17606ba" providerId="ADAL" clId="{A8AF2007-9049-4489-A0C9-770A000DFB7E}" dt="2025-08-28T12:30:52.205" v="50" actId="1076"/>
          <ac:spMkLst>
            <pc:docMk/>
            <pc:sldMk cId="141602717" sldId="270"/>
            <ac:spMk id="16" creationId="{8B37FC9D-BD33-1B98-3523-1EBDDB679FDA}"/>
          </ac:spMkLst>
        </pc:spChg>
        <pc:spChg chg="add mod">
          <ac:chgData name="Deepankar Santosh Pawar" userId="41dc9a1d-4bf4-4c1f-8297-42bce17606ba" providerId="ADAL" clId="{A8AF2007-9049-4489-A0C9-770A000DFB7E}" dt="2025-08-28T12:30:59.969" v="53" actId="14100"/>
          <ac:spMkLst>
            <pc:docMk/>
            <pc:sldMk cId="141602717" sldId="270"/>
            <ac:spMk id="18" creationId="{2D896967-1AC5-90C5-F3E8-AB787A59B559}"/>
          </ac:spMkLst>
        </pc:spChg>
      </pc:sldChg>
      <pc:sldChg chg="addSp modSp new mod">
        <pc:chgData name="Deepankar Santosh Pawar" userId="41dc9a1d-4bf4-4c1f-8297-42bce17606ba" providerId="ADAL" clId="{A8AF2007-9049-4489-A0C9-770A000DFB7E}" dt="2025-09-05T09:55:19.517" v="218" actId="1076"/>
        <pc:sldMkLst>
          <pc:docMk/>
          <pc:sldMk cId="3981749415" sldId="271"/>
        </pc:sldMkLst>
        <pc:spChg chg="add mod">
          <ac:chgData name="Deepankar Santosh Pawar" userId="41dc9a1d-4bf4-4c1f-8297-42bce17606ba" providerId="ADAL" clId="{A8AF2007-9049-4489-A0C9-770A000DFB7E}" dt="2025-09-05T09:55:17.297" v="217" actId="1076"/>
          <ac:spMkLst>
            <pc:docMk/>
            <pc:sldMk cId="3981749415" sldId="271"/>
            <ac:spMk id="3" creationId="{7DD87B81-BDBC-2D58-8C61-376A0CDB2813}"/>
          </ac:spMkLst>
        </pc:spChg>
        <pc:spChg chg="add mod">
          <ac:chgData name="Deepankar Santosh Pawar" userId="41dc9a1d-4bf4-4c1f-8297-42bce17606ba" providerId="ADAL" clId="{A8AF2007-9049-4489-A0C9-770A000DFB7E}" dt="2025-08-28T12:32:03.011" v="72" actId="1076"/>
          <ac:spMkLst>
            <pc:docMk/>
            <pc:sldMk cId="3981749415" sldId="271"/>
            <ac:spMk id="4" creationId="{2FED9A93-F7CF-3649-AF50-815E53115356}"/>
          </ac:spMkLst>
        </pc:spChg>
        <pc:spChg chg="add mod">
          <ac:chgData name="Deepankar Santosh Pawar" userId="41dc9a1d-4bf4-4c1f-8297-42bce17606ba" providerId="ADAL" clId="{A8AF2007-9049-4489-A0C9-770A000DFB7E}" dt="2025-09-05T09:55:19.517" v="218" actId="1076"/>
          <ac:spMkLst>
            <pc:docMk/>
            <pc:sldMk cId="3981749415" sldId="271"/>
            <ac:spMk id="5" creationId="{AA20B5FC-4677-ABAB-15BB-BCDB5AE388FF}"/>
          </ac:spMkLst>
        </pc:spChg>
      </pc:sldChg>
      <pc:sldChg chg="addSp delSp modSp new mod">
        <pc:chgData name="Deepankar Santosh Pawar" userId="41dc9a1d-4bf4-4c1f-8297-42bce17606ba" providerId="ADAL" clId="{A8AF2007-9049-4489-A0C9-770A000DFB7E}" dt="2025-08-28T12:32:59.790" v="93" actId="20577"/>
        <pc:sldMkLst>
          <pc:docMk/>
          <pc:sldMk cId="3966904609" sldId="272"/>
        </pc:sldMkLst>
        <pc:spChg chg="add mod">
          <ac:chgData name="Deepankar Santosh Pawar" userId="41dc9a1d-4bf4-4c1f-8297-42bce17606ba" providerId="ADAL" clId="{A8AF2007-9049-4489-A0C9-770A000DFB7E}" dt="2025-08-28T12:32:59.790" v="93" actId="20577"/>
          <ac:spMkLst>
            <pc:docMk/>
            <pc:sldMk cId="3966904609" sldId="272"/>
            <ac:spMk id="5" creationId="{8EC5116B-5D7E-FF82-4918-CD3A2B1BC29A}"/>
          </ac:spMkLst>
        </pc:spChg>
        <pc:picChg chg="add mod">
          <ac:chgData name="Deepankar Santosh Pawar" userId="41dc9a1d-4bf4-4c1f-8297-42bce17606ba" providerId="ADAL" clId="{A8AF2007-9049-4489-A0C9-770A000DFB7E}" dt="2025-08-28T12:32:48.681" v="80" actId="1076"/>
          <ac:picMkLst>
            <pc:docMk/>
            <pc:sldMk cId="3966904609" sldId="272"/>
            <ac:picMk id="4" creationId="{27F3F3C5-C55B-5314-2BCA-591994143545}"/>
          </ac:picMkLst>
        </pc:picChg>
      </pc:sldChg>
      <pc:sldChg chg="addSp delSp modSp new mod">
        <pc:chgData name="Deepankar Santosh Pawar" userId="41dc9a1d-4bf4-4c1f-8297-42bce17606ba" providerId="ADAL" clId="{A8AF2007-9049-4489-A0C9-770A000DFB7E}" dt="2025-08-28T13:18:54.561" v="156" actId="1076"/>
        <pc:sldMkLst>
          <pc:docMk/>
          <pc:sldMk cId="1783966908" sldId="273"/>
        </pc:sldMkLst>
        <pc:spChg chg="add mod">
          <ac:chgData name="Deepankar Santosh Pawar" userId="41dc9a1d-4bf4-4c1f-8297-42bce17606ba" providerId="ADAL" clId="{A8AF2007-9049-4489-A0C9-770A000DFB7E}" dt="2025-08-28T13:14:56.515" v="113" actId="1076"/>
          <ac:spMkLst>
            <pc:docMk/>
            <pc:sldMk cId="1783966908" sldId="273"/>
            <ac:spMk id="35" creationId="{6CFE6C90-09CE-90EA-8197-6A03070DC01C}"/>
          </ac:spMkLst>
        </pc:spChg>
        <pc:spChg chg="add mod">
          <ac:chgData name="Deepankar Santosh Pawar" userId="41dc9a1d-4bf4-4c1f-8297-42bce17606ba" providerId="ADAL" clId="{A8AF2007-9049-4489-A0C9-770A000DFB7E}" dt="2025-08-28T13:17:09.827" v="139" actId="14100"/>
          <ac:spMkLst>
            <pc:docMk/>
            <pc:sldMk cId="1783966908" sldId="273"/>
            <ac:spMk id="38" creationId="{8D8BF713-640A-731B-C7C2-A75BF0B30101}"/>
          </ac:spMkLst>
        </pc:spChg>
        <pc:spChg chg="add mod">
          <ac:chgData name="Deepankar Santosh Pawar" userId="41dc9a1d-4bf4-4c1f-8297-42bce17606ba" providerId="ADAL" clId="{A8AF2007-9049-4489-A0C9-770A000DFB7E}" dt="2025-08-28T13:17:55.013" v="148" actId="1076"/>
          <ac:spMkLst>
            <pc:docMk/>
            <pc:sldMk cId="1783966908" sldId="273"/>
            <ac:spMk id="40" creationId="{3A0A00CC-A159-6909-86AA-25B6A1301724}"/>
          </ac:spMkLst>
        </pc:spChg>
        <pc:spChg chg="add mod">
          <ac:chgData name="Deepankar Santosh Pawar" userId="41dc9a1d-4bf4-4c1f-8297-42bce17606ba" providerId="ADAL" clId="{A8AF2007-9049-4489-A0C9-770A000DFB7E}" dt="2025-08-28T13:16:00.179" v="126" actId="1076"/>
          <ac:spMkLst>
            <pc:docMk/>
            <pc:sldMk cId="1783966908" sldId="273"/>
            <ac:spMk id="44" creationId="{443693C0-3EA9-9CAB-A929-AC4B41E496BB}"/>
          </ac:spMkLst>
        </pc:spChg>
        <pc:spChg chg="add mod">
          <ac:chgData name="Deepankar Santosh Pawar" userId="41dc9a1d-4bf4-4c1f-8297-42bce17606ba" providerId="ADAL" clId="{A8AF2007-9049-4489-A0C9-770A000DFB7E}" dt="2025-08-28T13:17:43.609" v="146" actId="692"/>
          <ac:spMkLst>
            <pc:docMk/>
            <pc:sldMk cId="1783966908" sldId="273"/>
            <ac:spMk id="46" creationId="{09C4B003-9711-F7EB-0FDF-966D0789E55A}"/>
          </ac:spMkLst>
        </pc:spChg>
        <pc:spChg chg="add mod">
          <ac:chgData name="Deepankar Santosh Pawar" userId="41dc9a1d-4bf4-4c1f-8297-42bce17606ba" providerId="ADAL" clId="{A8AF2007-9049-4489-A0C9-770A000DFB7E}" dt="2025-08-28T13:18:54.561" v="156" actId="1076"/>
          <ac:spMkLst>
            <pc:docMk/>
            <pc:sldMk cId="1783966908" sldId="273"/>
            <ac:spMk id="49" creationId="{74C110A1-7DCA-534C-7174-418A17534196}"/>
          </ac:spMkLst>
        </pc:spChg>
      </pc:sldChg>
      <pc:sldChg chg="addSp delSp modSp new del mod">
        <pc:chgData name="Deepankar Santosh Pawar" userId="41dc9a1d-4bf4-4c1f-8297-42bce17606ba" providerId="ADAL" clId="{A8AF2007-9049-4489-A0C9-770A000DFB7E}" dt="2025-09-05T09:54:45.948" v="216" actId="47"/>
        <pc:sldMkLst>
          <pc:docMk/>
          <pc:sldMk cId="9878750" sldId="274"/>
        </pc:sldMkLst>
        <pc:graphicFrameChg chg="add del mod modGraphic">
          <ac:chgData name="Deepankar Santosh Pawar" userId="41dc9a1d-4bf4-4c1f-8297-42bce17606ba" providerId="ADAL" clId="{A8AF2007-9049-4489-A0C9-770A000DFB7E}" dt="2025-09-05T09:53:14.298" v="196" actId="21"/>
          <ac:graphicFrameMkLst>
            <pc:docMk/>
            <pc:sldMk cId="9878750" sldId="274"/>
            <ac:graphicFrameMk id="3" creationId="{6EF82687-A88C-5EF9-0DA8-75B0312D02DB}"/>
          </ac:graphicFrameMkLst>
        </pc:graphicFrameChg>
      </pc:sldChg>
      <pc:sldChg chg="addSp modSp new mod">
        <pc:chgData name="Deepankar Santosh Pawar" userId="41dc9a1d-4bf4-4c1f-8297-42bce17606ba" providerId="ADAL" clId="{A8AF2007-9049-4489-A0C9-770A000DFB7E}" dt="2025-09-05T09:54:35.530" v="215" actId="14734"/>
        <pc:sldMkLst>
          <pc:docMk/>
          <pc:sldMk cId="2435230675" sldId="275"/>
        </pc:sldMkLst>
        <pc:graphicFrameChg chg="add mod modGraphic">
          <ac:chgData name="Deepankar Santosh Pawar" userId="41dc9a1d-4bf4-4c1f-8297-42bce17606ba" providerId="ADAL" clId="{A8AF2007-9049-4489-A0C9-770A000DFB7E}" dt="2025-09-05T09:54:35.530" v="215" actId="14734"/>
          <ac:graphicFrameMkLst>
            <pc:docMk/>
            <pc:sldMk cId="2435230675" sldId="275"/>
            <ac:graphicFrameMk id="2" creationId="{6EF82687-A88C-5EF9-0DA8-75B0312D02DB}"/>
          </ac:graphicFrameMkLst>
        </pc:graphicFrameChg>
        <pc:picChg chg="add mod">
          <ac:chgData name="Deepankar Santosh Pawar" userId="41dc9a1d-4bf4-4c1f-8297-42bce17606ba" providerId="ADAL" clId="{A8AF2007-9049-4489-A0C9-770A000DFB7E}" dt="2025-09-05T09:54:15.549" v="210" actId="14100"/>
          <ac:picMkLst>
            <pc:docMk/>
            <pc:sldMk cId="2435230675" sldId="275"/>
            <ac:picMk id="3" creationId="{2192107B-2087-F842-00DD-9ACC08FF6DA0}"/>
          </ac:picMkLst>
        </pc:picChg>
      </pc:sldChg>
      <pc:sldChg chg="addSp modSp new mod">
        <pc:chgData name="Deepankar Santosh Pawar" userId="41dc9a1d-4bf4-4c1f-8297-42bce17606ba" providerId="ADAL" clId="{A8AF2007-9049-4489-A0C9-770A000DFB7E}" dt="2025-09-05T09:52:49.752" v="192" actId="1076"/>
        <pc:sldMkLst>
          <pc:docMk/>
          <pc:sldMk cId="224963375" sldId="276"/>
        </pc:sldMkLst>
        <pc:spChg chg="add mod">
          <ac:chgData name="Deepankar Santosh Pawar" userId="41dc9a1d-4bf4-4c1f-8297-42bce17606ba" providerId="ADAL" clId="{A8AF2007-9049-4489-A0C9-770A000DFB7E}" dt="2025-09-05T09:52:49.752" v="192" actId="1076"/>
          <ac:spMkLst>
            <pc:docMk/>
            <pc:sldMk cId="224963375" sldId="276"/>
            <ac:spMk id="3" creationId="{45F0297D-892A-1CE0-A752-0B91BEA0D9AF}"/>
          </ac:spMkLst>
        </pc:spChg>
        <pc:spChg chg="add mod">
          <ac:chgData name="Deepankar Santosh Pawar" userId="41dc9a1d-4bf4-4c1f-8297-42bce17606ba" providerId="ADAL" clId="{A8AF2007-9049-4489-A0C9-770A000DFB7E}" dt="2025-09-05T09:52:46.477" v="191" actId="255"/>
          <ac:spMkLst>
            <pc:docMk/>
            <pc:sldMk cId="224963375" sldId="276"/>
            <ac:spMk id="4" creationId="{CC76F96E-89E4-FC14-B011-95B893F98E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884C0-0AFA-4A9F-B305-47F1E26358B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063FC-9E77-4D5E-9153-4574811D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60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063FC-9E77-4D5E-9153-4574811D17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9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80462-DF33-D70E-D5B6-C62F19AAC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2A787-00B9-A7F9-FDD9-8B5015D55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C7A0E-E06A-D29C-F7EE-B6FD9904F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D851E-6674-74F7-7DA0-D7025B400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3531-EC56-3571-F17E-A57085D2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4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7AA2-B129-8BAB-738D-DC269D81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350F7-7D90-9A2D-1131-E6B0C8A75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A389A-3C6E-8FBD-6EA0-014D85DD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CFEF0-017D-1D13-F631-A8B571E4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40ABA-E5AB-A936-83B0-0A7F76BA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4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186C-5BF1-3B84-E992-225970E25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59821-23C5-7E37-58A0-3E0AB71E0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EA0E5-F08D-EAAC-CE76-138A4EB43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D4EBE-E8FF-D3E8-E603-0527CBADF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F60A3-1ADD-195F-2455-190668BC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16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7A26-677F-B6A9-A7DE-E5853B00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42DC8-77A2-FEDE-AAA5-AAB18FA7E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6BD72-21C6-BBC7-679D-0C9D6FB64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2FC84-89FC-8B59-39C3-6C87572C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E407A-9F4D-0342-1B45-9C8A4E81F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76160-BB8E-366E-22F1-106B6BD5F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38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A7CB-406E-897A-8F87-A305B940B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E5FD2-3E13-3A04-3D0D-C1D9FB50E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C8C6E-5119-3AB2-4579-F9C3D2098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2D149-EB10-0C92-04F0-04A9EB42D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DD24D-91C3-1554-17C6-64FC6107D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B6A24-AF75-B593-5165-69C621FF5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2FAFF-535D-6F3E-F84B-1DB17938B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78036-D50A-13FF-A8B1-DF64038E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1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F9254-487D-1BA4-4FDC-9115F64E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307817-5727-97D9-A80F-08F8148B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746B7-81A1-E3B7-5400-48F77A95A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2FD7E-2C25-CEC1-09F2-A05B2FEC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8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88E78D-EE81-6BF7-C2B3-9041BE5A5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3D59F-852D-6E9B-39DB-6EB28A31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B7A8F-4FFD-6B66-D43C-20F8F330D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84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8A3F-976F-B7BA-84F2-B5D570C2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0A6D0-8DBF-EAC7-1B2C-BE77850E2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73E9A-B10C-AE14-C40A-0BF69F736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1FE73-72B7-E9CA-E549-5739C64F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6D870-6AC3-0106-1915-CE698E04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10BC7-15CA-5CA9-E54F-42C8D210A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4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B6EF-6350-B87E-29CF-9428D1BE8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F44592-FE98-7044-079A-14839C60C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BE8B9-ADA1-D6E9-56A6-FDA9A3689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5D59F-25E7-D00F-7B6C-3015D794D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2CC46-AB1F-2309-9A76-07ABA24F1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C2B3F-18ED-A6A6-4514-3D4585DD5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5BDE6-6976-1B5B-70FF-7B260BF2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CCF84-5D15-9425-26C0-15C20F90E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089B3-DEF6-94A9-D444-1DFB7BFA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7BC28-8653-DF0D-6959-85915254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F9005-8CF3-F18A-CBF9-FAC28F46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6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65239E-3414-C5EC-91D3-264863D27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FFB98-FE66-39E7-C7CA-ED9DB62D3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4E885-109D-49F2-D504-E946F3F83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EBA22-AE14-970E-798C-56C20DC8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F4AD4-10EC-C277-A185-4B8D4C9A1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6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127AD-5168-6C0C-0C87-72851223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57283-317A-88BF-0BD7-25356A429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63650-0B89-870A-5044-2A5BE26BB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B9533-DA6C-4445-A16F-300AABB1829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3B5D3-064B-F2E2-FF29-08AE0D7D9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F73FC-EDD0-9218-D20F-E37B0F192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901BB-00D3-49AE-97FC-13681593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3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039E9-99C4-7498-3BED-0934471FEC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Nexora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247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234">
            <a:extLst>
              <a:ext uri="{FF2B5EF4-FFF2-40B4-BE49-F238E27FC236}">
                <a16:creationId xmlns:a16="http://schemas.microsoft.com/office/drawing/2014/main" id="{7F13B1E6-9523-4995-9A2E-DE06580CEFC3}"/>
              </a:ext>
            </a:extLst>
          </p:cNvPr>
          <p:cNvSpPr/>
          <p:nvPr/>
        </p:nvSpPr>
        <p:spPr>
          <a:xfrm>
            <a:off x="269657" y="4582882"/>
            <a:ext cx="4104139" cy="11172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91C66D-F985-CAD8-0280-41E5222B250A}"/>
              </a:ext>
            </a:extLst>
          </p:cNvPr>
          <p:cNvSpPr/>
          <p:nvPr/>
        </p:nvSpPr>
        <p:spPr>
          <a:xfrm>
            <a:off x="9134162" y="1734913"/>
            <a:ext cx="2081852" cy="2142932"/>
          </a:xfrm>
          <a:prstGeom prst="rect">
            <a:avLst/>
          </a:prstGeom>
          <a:ln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BB766FB-1B7F-7438-522A-451AC81156E0}"/>
              </a:ext>
            </a:extLst>
          </p:cNvPr>
          <p:cNvSpPr/>
          <p:nvPr/>
        </p:nvSpPr>
        <p:spPr>
          <a:xfrm>
            <a:off x="134110" y="379842"/>
            <a:ext cx="4510443" cy="54669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5DACFFD-B544-7F81-5E7D-A339BED618D2}"/>
              </a:ext>
            </a:extLst>
          </p:cNvPr>
          <p:cNvSpPr/>
          <p:nvPr/>
        </p:nvSpPr>
        <p:spPr>
          <a:xfrm>
            <a:off x="5206175" y="379841"/>
            <a:ext cx="3637704" cy="3407789"/>
          </a:xfrm>
          <a:prstGeom prst="rect">
            <a:avLst/>
          </a:prstGeom>
          <a:solidFill>
            <a:schemeClr val="bg1">
              <a:lumMod val="85000"/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81925E-9390-91B5-F568-95AD1536B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07115" y="2546702"/>
            <a:ext cx="514977" cy="4401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 descr="Overview - Chainlit">
            <a:extLst>
              <a:ext uri="{FF2B5EF4-FFF2-40B4-BE49-F238E27FC236}">
                <a16:creationId xmlns:a16="http://schemas.microsoft.com/office/drawing/2014/main" id="{1185900C-8062-3488-ABF8-E75F3C388A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4289" y="805540"/>
            <a:ext cx="1327029" cy="510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6E43F9-1805-AB56-317C-FEA02071B346}"/>
              </a:ext>
            </a:extLst>
          </p:cNvPr>
          <p:cNvSpPr txBox="1"/>
          <p:nvPr/>
        </p:nvSpPr>
        <p:spPr>
          <a:xfrm>
            <a:off x="9080558" y="1640644"/>
            <a:ext cx="132703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 b="1">
                <a:latin typeface="Segoe UI"/>
              </a:defRPr>
            </a:pPr>
            <a:r>
              <a:rPr sz="1200" dirty="0"/>
              <a:t>📁 </a:t>
            </a:r>
            <a:r>
              <a:rPr sz="1200" dirty="0" err="1"/>
              <a:t>DataSources</a:t>
            </a:r>
            <a:endParaRPr sz="1200" dirty="0"/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E628D1DA-4BDF-6648-6338-92FBF338C3F4}"/>
              </a:ext>
            </a:extLst>
          </p:cNvPr>
          <p:cNvSpPr/>
          <p:nvPr/>
        </p:nvSpPr>
        <p:spPr>
          <a:xfrm>
            <a:off x="9324439" y="2275032"/>
            <a:ext cx="991688" cy="227157"/>
          </a:xfrm>
          <a:prstGeom prst="roundRect">
            <a:avLst/>
          </a:prstGeom>
          <a:solidFill>
            <a:srgbClr val="FF413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Process files</a:t>
            </a:r>
            <a:endParaRPr sz="1200" b="1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447DA32-E96C-8D91-54DA-C70F45F4A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391857"/>
              </p:ext>
            </p:extLst>
          </p:nvPr>
        </p:nvGraphicFramePr>
        <p:xfrm>
          <a:off x="9709009" y="2502189"/>
          <a:ext cx="985519" cy="121920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985519">
                  <a:extLst>
                    <a:ext uri="{9D8B030D-6E8A-4147-A177-3AD203B41FA5}">
                      <a16:colId xmlns:a16="http://schemas.microsoft.com/office/drawing/2014/main" val="1229276263"/>
                    </a:ext>
                  </a:extLst>
                </a:gridCol>
              </a:tblGrid>
              <a:tr h="277186">
                <a:tc>
                  <a:txBody>
                    <a:bodyPr/>
                    <a:lstStyle/>
                    <a:p>
                      <a:pPr lvl="0"/>
                      <a:r>
                        <a:rPr lang="en-US" sz="1400" b="1" dirty="0"/>
                        <a:t>csv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364422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r>
                        <a:rPr lang="en-US" sz="1400" b="1" dirty="0"/>
                        <a:t>excel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855988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r>
                        <a:rPr lang="en-US" sz="1400" b="1" dirty="0"/>
                        <a:t>pdf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0390396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r>
                        <a:rPr lang="en-US" sz="1400" b="1" dirty="0"/>
                        <a:t>Txt/word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878056"/>
                  </a:ext>
                </a:extLst>
              </a:tr>
            </a:tbl>
          </a:graphicData>
        </a:graphic>
      </p:graphicFrame>
      <p:sp>
        <p:nvSpPr>
          <p:cNvPr id="29" name="Left Brace 28">
            <a:extLst>
              <a:ext uri="{FF2B5EF4-FFF2-40B4-BE49-F238E27FC236}">
                <a16:creationId xmlns:a16="http://schemas.microsoft.com/office/drawing/2014/main" id="{9563926A-EDE7-80D8-AACF-EDAD0B7905F6}"/>
              </a:ext>
            </a:extLst>
          </p:cNvPr>
          <p:cNvSpPr/>
          <p:nvPr/>
        </p:nvSpPr>
        <p:spPr>
          <a:xfrm>
            <a:off x="9365365" y="2651568"/>
            <a:ext cx="208909" cy="460221"/>
          </a:xfrm>
          <a:prstGeom prst="leftBrace">
            <a:avLst/>
          </a:prstGeom>
          <a:ln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C4CA0C7F-F3D2-517D-1821-60A5E4426D87}"/>
              </a:ext>
            </a:extLst>
          </p:cNvPr>
          <p:cNvSpPr/>
          <p:nvPr/>
        </p:nvSpPr>
        <p:spPr>
          <a:xfrm>
            <a:off x="9365365" y="3269465"/>
            <a:ext cx="324268" cy="353133"/>
          </a:xfrm>
          <a:prstGeom prst="leftBrace">
            <a:avLst/>
          </a:prstGeom>
          <a:ln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00FF3E4-BF43-00F7-B768-837623EDA02D}"/>
              </a:ext>
            </a:extLst>
          </p:cNvPr>
          <p:cNvSpPr/>
          <p:nvPr/>
        </p:nvSpPr>
        <p:spPr>
          <a:xfrm>
            <a:off x="2798838" y="853627"/>
            <a:ext cx="871869" cy="3151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chunking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3D217F2-FB1D-C2B7-B720-9E7CCA8574CD}"/>
              </a:ext>
            </a:extLst>
          </p:cNvPr>
          <p:cNvSpPr/>
          <p:nvPr/>
        </p:nvSpPr>
        <p:spPr>
          <a:xfrm>
            <a:off x="5206174" y="3975051"/>
            <a:ext cx="3637703" cy="1150285"/>
          </a:xfrm>
          <a:prstGeom prst="rect">
            <a:avLst/>
          </a:prstGeom>
          <a:solidFill>
            <a:schemeClr val="bg1">
              <a:lumMod val="85000"/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endParaRPr lang="en-IN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11831B6-079B-9BCC-49E2-F12187D38E9D}"/>
              </a:ext>
            </a:extLst>
          </p:cNvPr>
          <p:cNvSpPr/>
          <p:nvPr/>
        </p:nvSpPr>
        <p:spPr>
          <a:xfrm>
            <a:off x="330589" y="709702"/>
            <a:ext cx="1912739" cy="13003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DCC7C504-399D-443D-250E-4F880F59A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39" y="1191669"/>
            <a:ext cx="476189" cy="510891"/>
          </a:xfrm>
          <a:prstGeom prst="rect">
            <a:avLst/>
          </a:prstGeom>
        </p:spPr>
      </p:pic>
      <p:sp>
        <p:nvSpPr>
          <p:cNvPr id="142" name="Rectangle 141">
            <a:extLst>
              <a:ext uri="{FF2B5EF4-FFF2-40B4-BE49-F238E27FC236}">
                <a16:creationId xmlns:a16="http://schemas.microsoft.com/office/drawing/2014/main" id="{21E801E5-A8DA-738E-6F7E-43C21C1FD5B1}"/>
              </a:ext>
            </a:extLst>
          </p:cNvPr>
          <p:cNvSpPr/>
          <p:nvPr/>
        </p:nvSpPr>
        <p:spPr>
          <a:xfrm>
            <a:off x="1286958" y="1252087"/>
            <a:ext cx="849124" cy="6059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ADA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Embeddingmodel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E1632347-A0EE-6815-73FA-6BE30F046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88" y="740980"/>
            <a:ext cx="339980" cy="297822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ACCDA8F2-13F1-88E6-8EF5-AB119A88C20B}"/>
              </a:ext>
            </a:extLst>
          </p:cNvPr>
          <p:cNvSpPr txBox="1"/>
          <p:nvPr/>
        </p:nvSpPr>
        <p:spPr>
          <a:xfrm>
            <a:off x="791290" y="740980"/>
            <a:ext cx="153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AI Studio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14C6031-61D2-FB31-CBE3-E202BAF4A6A1}"/>
              </a:ext>
            </a:extLst>
          </p:cNvPr>
          <p:cNvSpPr txBox="1"/>
          <p:nvPr/>
        </p:nvSpPr>
        <p:spPr>
          <a:xfrm>
            <a:off x="330589" y="1734912"/>
            <a:ext cx="1057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OpenAI GPT 4</a:t>
            </a:r>
          </a:p>
        </p:txBody>
      </p:sp>
      <p:pic>
        <p:nvPicPr>
          <p:cNvPr id="149" name="Picture 148">
            <a:extLst>
              <a:ext uri="{FF2B5EF4-FFF2-40B4-BE49-F238E27FC236}">
                <a16:creationId xmlns:a16="http://schemas.microsoft.com/office/drawing/2014/main" id="{61D9F4AC-EA71-A3A5-7C60-45EE43A49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177" y="760784"/>
            <a:ext cx="522110" cy="500862"/>
          </a:xfrm>
          <a:prstGeom prst="rect">
            <a:avLst/>
          </a:prstGeom>
        </p:spPr>
      </p:pic>
      <p:sp>
        <p:nvSpPr>
          <p:cNvPr id="152" name="Rectangle 151">
            <a:extLst>
              <a:ext uri="{FF2B5EF4-FFF2-40B4-BE49-F238E27FC236}">
                <a16:creationId xmlns:a16="http://schemas.microsoft.com/office/drawing/2014/main" id="{357B7A43-3535-D327-F367-1FA96CE668FD}"/>
              </a:ext>
            </a:extLst>
          </p:cNvPr>
          <p:cNvSpPr/>
          <p:nvPr/>
        </p:nvSpPr>
        <p:spPr>
          <a:xfrm>
            <a:off x="5544440" y="863710"/>
            <a:ext cx="1180644" cy="327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Blob storage)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D4B2B1B-BEEC-74A9-703F-C765EB305860}"/>
              </a:ext>
            </a:extLst>
          </p:cNvPr>
          <p:cNvSpPr txBox="1"/>
          <p:nvPr/>
        </p:nvSpPr>
        <p:spPr>
          <a:xfrm>
            <a:off x="6473816" y="379841"/>
            <a:ext cx="1621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Data Storage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79FBB2C7-9106-3A7F-672F-9E029E932AA0}"/>
              </a:ext>
            </a:extLst>
          </p:cNvPr>
          <p:cNvCxnSpPr>
            <a:cxnSpLocks/>
          </p:cNvCxnSpPr>
          <p:nvPr/>
        </p:nvCxnSpPr>
        <p:spPr>
          <a:xfrm>
            <a:off x="1286958" y="2105060"/>
            <a:ext cx="0" cy="283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Curved 164">
            <a:extLst>
              <a:ext uri="{FF2B5EF4-FFF2-40B4-BE49-F238E27FC236}">
                <a16:creationId xmlns:a16="http://schemas.microsoft.com/office/drawing/2014/main" id="{478440C8-3FCB-803D-98F2-F1052558A14A}"/>
              </a:ext>
            </a:extLst>
          </p:cNvPr>
          <p:cNvCxnSpPr/>
          <p:nvPr/>
        </p:nvCxnSpPr>
        <p:spPr>
          <a:xfrm rot="5400000">
            <a:off x="9788027" y="1341707"/>
            <a:ext cx="597978" cy="4187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137BBC4-8663-5BB9-363B-0E930D022CFD}"/>
              </a:ext>
            </a:extLst>
          </p:cNvPr>
          <p:cNvSpPr txBox="1"/>
          <p:nvPr/>
        </p:nvSpPr>
        <p:spPr>
          <a:xfrm>
            <a:off x="5507202" y="2176797"/>
            <a:ext cx="1231465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rPr lang="en-US" dirty="0"/>
              <a:t>PDF/TXT →  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rPr lang="en-US" dirty="0"/>
              <a:t>files container</a:t>
            </a:r>
          </a:p>
        </p:txBody>
      </p:sp>
      <p:cxnSp>
        <p:nvCxnSpPr>
          <p:cNvPr id="175" name="Connector: Curved 174">
            <a:extLst>
              <a:ext uri="{FF2B5EF4-FFF2-40B4-BE49-F238E27FC236}">
                <a16:creationId xmlns:a16="http://schemas.microsoft.com/office/drawing/2014/main" id="{69CE18EF-B9A7-2621-C09C-2335245B548A}"/>
              </a:ext>
            </a:extLst>
          </p:cNvPr>
          <p:cNvCxnSpPr>
            <a:cxnSpLocks/>
            <a:stCxn id="29" idx="1"/>
          </p:cNvCxnSpPr>
          <p:nvPr/>
        </p:nvCxnSpPr>
        <p:spPr>
          <a:xfrm rot="10800000">
            <a:off x="8510237" y="2047791"/>
            <a:ext cx="855128" cy="83388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4052EA5-3DD9-531E-6704-18021C9F8AD4}"/>
              </a:ext>
            </a:extLst>
          </p:cNvPr>
          <p:cNvSpPr/>
          <p:nvPr/>
        </p:nvSpPr>
        <p:spPr>
          <a:xfrm>
            <a:off x="7324951" y="1788725"/>
            <a:ext cx="1180644" cy="2950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Container 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6B0DE737-D1B6-3F13-9B9E-7D43A60A9E5A}"/>
              </a:ext>
            </a:extLst>
          </p:cNvPr>
          <p:cNvSpPr/>
          <p:nvPr/>
        </p:nvSpPr>
        <p:spPr>
          <a:xfrm>
            <a:off x="5520636" y="1803295"/>
            <a:ext cx="1037617" cy="280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Container 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AD1E22A9-BA8B-3CAB-7251-89D2C2343B6C}"/>
              </a:ext>
            </a:extLst>
          </p:cNvPr>
          <p:cNvSpPr txBox="1"/>
          <p:nvPr/>
        </p:nvSpPr>
        <p:spPr>
          <a:xfrm>
            <a:off x="7318884" y="2151827"/>
            <a:ext cx="1362527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505050"/>
                </a:solidFill>
              </a:defRPr>
            </a:lvl1pPr>
          </a:lstStyle>
          <a:p>
            <a:r>
              <a:rPr lang="en-US" dirty="0"/>
              <a:t>CSV/Excel → 'table' container</a:t>
            </a:r>
          </a:p>
          <a:p>
            <a:endParaRPr lang="en-US" dirty="0"/>
          </a:p>
        </p:txBody>
      </p:sp>
      <p:cxnSp>
        <p:nvCxnSpPr>
          <p:cNvPr id="190" name="Connector: Curved 189">
            <a:extLst>
              <a:ext uri="{FF2B5EF4-FFF2-40B4-BE49-F238E27FC236}">
                <a16:creationId xmlns:a16="http://schemas.microsoft.com/office/drawing/2014/main" id="{07999AE6-8907-ABA8-9932-017B7DF0E2D7}"/>
              </a:ext>
            </a:extLst>
          </p:cNvPr>
          <p:cNvCxnSpPr>
            <a:cxnSpLocks/>
            <a:stCxn id="31" idx="1"/>
          </p:cNvCxnSpPr>
          <p:nvPr/>
        </p:nvCxnSpPr>
        <p:spPr>
          <a:xfrm rot="10800000">
            <a:off x="6637753" y="1893762"/>
            <a:ext cx="2727612" cy="15522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: Elbow 203">
            <a:extLst>
              <a:ext uri="{FF2B5EF4-FFF2-40B4-BE49-F238E27FC236}">
                <a16:creationId xmlns:a16="http://schemas.microsoft.com/office/drawing/2014/main" id="{A43D3EB1-03D6-65F0-F19D-13FB89E7D92E}"/>
              </a:ext>
            </a:extLst>
          </p:cNvPr>
          <p:cNvCxnSpPr>
            <a:cxnSpLocks/>
          </p:cNvCxnSpPr>
          <p:nvPr/>
        </p:nvCxnSpPr>
        <p:spPr>
          <a:xfrm rot="10800000">
            <a:off x="3766364" y="1011211"/>
            <a:ext cx="1730041" cy="1427196"/>
          </a:xfrm>
          <a:prstGeom prst="bentConnector3">
            <a:avLst>
              <a:gd name="adj1" fmla="val 437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E6A2886D-B3E1-4514-0AEB-91FE2F0C9F34}"/>
              </a:ext>
            </a:extLst>
          </p:cNvPr>
          <p:cNvCxnSpPr/>
          <p:nvPr/>
        </p:nvCxnSpPr>
        <p:spPr>
          <a:xfrm flipH="1">
            <a:off x="2243328" y="1011213"/>
            <a:ext cx="4786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5166B9C9-8CBE-3AFA-D687-4D70AF5E7418}"/>
              </a:ext>
            </a:extLst>
          </p:cNvPr>
          <p:cNvSpPr/>
          <p:nvPr/>
        </p:nvSpPr>
        <p:spPr>
          <a:xfrm>
            <a:off x="256061" y="2361103"/>
            <a:ext cx="4265831" cy="18418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00"/>
                </a:highlight>
                <a:uLnTx/>
                <a:uFillTx/>
                <a:latin typeface="Arial" panose="020B0604020202020204"/>
                <a:ea typeface="+mn-ea"/>
                <a:cs typeface="+mn-cs"/>
              </a:rPr>
              <a:t>Pinecone/Chroma DB/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00"/>
                </a:highlight>
                <a:uLnTx/>
                <a:uFillTx/>
                <a:latin typeface="Arial" panose="020B0604020202020204"/>
                <a:ea typeface="+mn-ea"/>
                <a:cs typeface="+mn-cs"/>
              </a:rPr>
              <a:t>Qdrant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000000"/>
              </a:highligh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8EFE0B1-9A55-3159-5DA3-1AEF535B3C33}"/>
              </a:ext>
            </a:extLst>
          </p:cNvPr>
          <p:cNvSpPr/>
          <p:nvPr/>
        </p:nvSpPr>
        <p:spPr>
          <a:xfrm>
            <a:off x="386055" y="2592985"/>
            <a:ext cx="1551015" cy="3437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Vector Database</a:t>
            </a:r>
          </a:p>
        </p:txBody>
      </p:sp>
      <p:pic>
        <p:nvPicPr>
          <p:cNvPr id="227" name="Picture 226">
            <a:extLst>
              <a:ext uri="{FF2B5EF4-FFF2-40B4-BE49-F238E27FC236}">
                <a16:creationId xmlns:a16="http://schemas.microsoft.com/office/drawing/2014/main" id="{F7130FFC-B5BD-9B50-D90A-7C1113C39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48" y="4981290"/>
            <a:ext cx="476189" cy="510891"/>
          </a:xfrm>
          <a:prstGeom prst="rect">
            <a:avLst/>
          </a:prstGeom>
        </p:spPr>
      </p:pic>
      <p:sp>
        <p:nvSpPr>
          <p:cNvPr id="228" name="Rectangle 227">
            <a:extLst>
              <a:ext uri="{FF2B5EF4-FFF2-40B4-BE49-F238E27FC236}">
                <a16:creationId xmlns:a16="http://schemas.microsoft.com/office/drawing/2014/main" id="{1D13600F-19B9-B9BB-87FE-22CB7D67405C}"/>
              </a:ext>
            </a:extLst>
          </p:cNvPr>
          <p:cNvSpPr/>
          <p:nvPr/>
        </p:nvSpPr>
        <p:spPr>
          <a:xfrm>
            <a:off x="578978" y="3727613"/>
            <a:ext cx="899076" cy="3814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Retreiver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67E1F287-75F3-63A2-2019-218376EB5191}"/>
              </a:ext>
            </a:extLst>
          </p:cNvPr>
          <p:cNvCxnSpPr>
            <a:cxnSpLocks/>
          </p:cNvCxnSpPr>
          <p:nvPr/>
        </p:nvCxnSpPr>
        <p:spPr>
          <a:xfrm>
            <a:off x="859210" y="4272371"/>
            <a:ext cx="0" cy="614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Rectangle 233">
            <a:extLst>
              <a:ext uri="{FF2B5EF4-FFF2-40B4-BE49-F238E27FC236}">
                <a16:creationId xmlns:a16="http://schemas.microsoft.com/office/drawing/2014/main" id="{4EE2D756-6A45-98EC-BD69-839F5821042E}"/>
              </a:ext>
            </a:extLst>
          </p:cNvPr>
          <p:cNvSpPr/>
          <p:nvPr/>
        </p:nvSpPr>
        <p:spPr>
          <a:xfrm>
            <a:off x="1138625" y="5053862"/>
            <a:ext cx="1997980" cy="3368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Output refinement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gpt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4O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F42C614-9403-D0E1-47BD-2DDF2CE6BC03}"/>
              </a:ext>
            </a:extLst>
          </p:cNvPr>
          <p:cNvCxnSpPr>
            <a:cxnSpLocks/>
          </p:cNvCxnSpPr>
          <p:nvPr/>
        </p:nvCxnSpPr>
        <p:spPr>
          <a:xfrm>
            <a:off x="859210" y="5582093"/>
            <a:ext cx="0" cy="896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5B877198-2780-38A8-3A80-3D7BE77AF654}"/>
              </a:ext>
            </a:extLst>
          </p:cNvPr>
          <p:cNvCxnSpPr>
            <a:cxnSpLocks/>
            <a:endCxn id="260" idx="1"/>
          </p:cNvCxnSpPr>
          <p:nvPr/>
        </p:nvCxnSpPr>
        <p:spPr>
          <a:xfrm>
            <a:off x="859210" y="6478159"/>
            <a:ext cx="47706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0" name="Picture 259">
            <a:extLst>
              <a:ext uri="{FF2B5EF4-FFF2-40B4-BE49-F238E27FC236}">
                <a16:creationId xmlns:a16="http://schemas.microsoft.com/office/drawing/2014/main" id="{0C6EDF3C-17D7-ECF5-AE1D-BCEA923B91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839" y="6252088"/>
            <a:ext cx="645918" cy="452142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261" name="TextBox 260">
            <a:extLst>
              <a:ext uri="{FF2B5EF4-FFF2-40B4-BE49-F238E27FC236}">
                <a16:creationId xmlns:a16="http://schemas.microsoft.com/office/drawing/2014/main" id="{A42140C3-EAB6-8093-1C66-4AA72967CDA0}"/>
              </a:ext>
            </a:extLst>
          </p:cNvPr>
          <p:cNvSpPr txBox="1"/>
          <p:nvPr/>
        </p:nvSpPr>
        <p:spPr>
          <a:xfrm>
            <a:off x="6080698" y="5930426"/>
            <a:ext cx="1807847" cy="2812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Chat history and logging</a:t>
            </a:r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89B83530-B55A-6E81-7986-CCA08A2B2B95}"/>
              </a:ext>
            </a:extLst>
          </p:cNvPr>
          <p:cNvCxnSpPr>
            <a:cxnSpLocks/>
            <a:stCxn id="260" idx="3"/>
          </p:cNvCxnSpPr>
          <p:nvPr/>
        </p:nvCxnSpPr>
        <p:spPr>
          <a:xfrm>
            <a:off x="6275757" y="6478159"/>
            <a:ext cx="44555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: Elbow 283">
            <a:extLst>
              <a:ext uri="{FF2B5EF4-FFF2-40B4-BE49-F238E27FC236}">
                <a16:creationId xmlns:a16="http://schemas.microsoft.com/office/drawing/2014/main" id="{9404B5FB-CC3B-D7EB-8CFB-9CE1AB347F45}"/>
              </a:ext>
            </a:extLst>
          </p:cNvPr>
          <p:cNvCxnSpPr>
            <a:cxnSpLocks/>
            <a:stCxn id="189" idx="1"/>
          </p:cNvCxnSpPr>
          <p:nvPr/>
        </p:nvCxnSpPr>
        <p:spPr>
          <a:xfrm rot="10800000" flipV="1">
            <a:off x="5837114" y="2521159"/>
            <a:ext cx="1481771" cy="871048"/>
          </a:xfrm>
          <a:prstGeom prst="bentConnector3">
            <a:avLst>
              <a:gd name="adj1" fmla="val 98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672886BD-69DC-D62C-8F71-EF817A1F5D84}"/>
              </a:ext>
            </a:extLst>
          </p:cNvPr>
          <p:cNvCxnSpPr>
            <a:cxnSpLocks/>
          </p:cNvCxnSpPr>
          <p:nvPr/>
        </p:nvCxnSpPr>
        <p:spPr>
          <a:xfrm flipH="1">
            <a:off x="5827898" y="3392207"/>
            <a:ext cx="9216" cy="582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9" name="Picture 288">
            <a:extLst>
              <a:ext uri="{FF2B5EF4-FFF2-40B4-BE49-F238E27FC236}">
                <a16:creationId xmlns:a16="http://schemas.microsoft.com/office/drawing/2014/main" id="{9CBEBDC5-2CED-F1D1-FF5F-0A59EB5730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159" y="4119276"/>
            <a:ext cx="588291" cy="582844"/>
          </a:xfrm>
          <a:prstGeom prst="rect">
            <a:avLst/>
          </a:prstGeom>
        </p:spPr>
      </p:pic>
      <p:sp>
        <p:nvSpPr>
          <p:cNvPr id="294" name="TextBox 293">
            <a:extLst>
              <a:ext uri="{FF2B5EF4-FFF2-40B4-BE49-F238E27FC236}">
                <a16:creationId xmlns:a16="http://schemas.microsoft.com/office/drawing/2014/main" id="{28736F4F-B1EC-76CE-2534-F49D9457E925}"/>
              </a:ext>
            </a:extLst>
          </p:cNvPr>
          <p:cNvSpPr txBox="1"/>
          <p:nvPr/>
        </p:nvSpPr>
        <p:spPr>
          <a:xfrm>
            <a:off x="6228968" y="4121995"/>
            <a:ext cx="1488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SQL Agent/Table Interpreter</a:t>
            </a:r>
          </a:p>
        </p:txBody>
      </p: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E45FD8EC-D035-59D7-AB6E-11F426237696}"/>
              </a:ext>
            </a:extLst>
          </p:cNvPr>
          <p:cNvCxnSpPr>
            <a:cxnSpLocks/>
          </p:cNvCxnSpPr>
          <p:nvPr/>
        </p:nvCxnSpPr>
        <p:spPr>
          <a:xfrm flipH="1">
            <a:off x="5837114" y="5125336"/>
            <a:ext cx="6520" cy="1086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B09E3DE5-14B6-65D8-342F-3017A87D7DE6}"/>
              </a:ext>
            </a:extLst>
          </p:cNvPr>
          <p:cNvCxnSpPr/>
          <p:nvPr/>
        </p:nvCxnSpPr>
        <p:spPr>
          <a:xfrm flipV="1">
            <a:off x="10731318" y="3975051"/>
            <a:ext cx="0" cy="2503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>
            <a:extLst>
              <a:ext uri="{FF2B5EF4-FFF2-40B4-BE49-F238E27FC236}">
                <a16:creationId xmlns:a16="http://schemas.microsoft.com/office/drawing/2014/main" id="{7CD38994-3A27-4BF6-A87D-695300F95733}"/>
              </a:ext>
            </a:extLst>
          </p:cNvPr>
          <p:cNvSpPr txBox="1"/>
          <p:nvPr/>
        </p:nvSpPr>
        <p:spPr>
          <a:xfrm>
            <a:off x="11391663" y="3012912"/>
            <a:ext cx="554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245132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>
            <a:extLst>
              <a:ext uri="{FF2B5EF4-FFF2-40B4-BE49-F238E27FC236}">
                <a16:creationId xmlns:a16="http://schemas.microsoft.com/office/drawing/2014/main" id="{61B111C5-8C37-C69D-B6B5-4CDC8A919040}"/>
              </a:ext>
            </a:extLst>
          </p:cNvPr>
          <p:cNvSpPr/>
          <p:nvPr/>
        </p:nvSpPr>
        <p:spPr>
          <a:xfrm>
            <a:off x="5355672" y="1432661"/>
            <a:ext cx="4392022" cy="33710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59A4F8-D134-C53D-CC52-3C87EEC97E9C}"/>
              </a:ext>
            </a:extLst>
          </p:cNvPr>
          <p:cNvSpPr/>
          <p:nvPr/>
        </p:nvSpPr>
        <p:spPr>
          <a:xfrm flipV="1">
            <a:off x="10082996" y="256346"/>
            <a:ext cx="760548" cy="2616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9A5BAC7-E4CF-6C9B-C1D3-3395A83BD6A3}"/>
              </a:ext>
            </a:extLst>
          </p:cNvPr>
          <p:cNvSpPr/>
          <p:nvPr/>
        </p:nvSpPr>
        <p:spPr>
          <a:xfrm>
            <a:off x="10029206" y="631675"/>
            <a:ext cx="1440872" cy="2142932"/>
          </a:xfrm>
          <a:prstGeom prst="rect">
            <a:avLst/>
          </a:prstGeom>
          <a:ln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B764F-17BF-C878-5B92-D923B00A54F0}"/>
              </a:ext>
            </a:extLst>
          </p:cNvPr>
          <p:cNvSpPr txBox="1"/>
          <p:nvPr/>
        </p:nvSpPr>
        <p:spPr>
          <a:xfrm>
            <a:off x="10029206" y="429066"/>
            <a:ext cx="132703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 b="1">
                <a:latin typeface="Segoe UI"/>
              </a:defRPr>
            </a:pPr>
            <a:r>
              <a:rPr sz="1200" dirty="0"/>
              <a:t>📁 </a:t>
            </a:r>
            <a:r>
              <a:rPr sz="1200" dirty="0" err="1"/>
              <a:t>DataSources</a:t>
            </a:r>
            <a:endParaRPr sz="1200" dirty="0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051D5DDB-71E6-A2C6-6E74-4F972F49AB2C}"/>
              </a:ext>
            </a:extLst>
          </p:cNvPr>
          <p:cNvSpPr/>
          <p:nvPr/>
        </p:nvSpPr>
        <p:spPr>
          <a:xfrm>
            <a:off x="10196877" y="1155783"/>
            <a:ext cx="991688" cy="227157"/>
          </a:xfrm>
          <a:prstGeom prst="roundRect">
            <a:avLst/>
          </a:prstGeom>
          <a:solidFill>
            <a:srgbClr val="FF413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Process files</a:t>
            </a:r>
            <a:endParaRPr sz="1200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EA022CB-FF21-8592-D654-6AADFCDF7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41863"/>
              </p:ext>
            </p:extLst>
          </p:nvPr>
        </p:nvGraphicFramePr>
        <p:xfrm>
          <a:off x="10280235" y="1382940"/>
          <a:ext cx="908330" cy="121920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908330">
                  <a:extLst>
                    <a:ext uri="{9D8B030D-6E8A-4147-A177-3AD203B41FA5}">
                      <a16:colId xmlns:a16="http://schemas.microsoft.com/office/drawing/2014/main" val="1229276263"/>
                    </a:ext>
                  </a:extLst>
                </a:gridCol>
              </a:tblGrid>
              <a:tr h="259564">
                <a:tc>
                  <a:txBody>
                    <a:bodyPr/>
                    <a:lstStyle/>
                    <a:p>
                      <a:pPr lvl="0"/>
                      <a:r>
                        <a:rPr lang="en-US" sz="1400" b="1" dirty="0"/>
                        <a:t>csv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364422"/>
                  </a:ext>
                </a:extLst>
              </a:tr>
              <a:tr h="259564">
                <a:tc>
                  <a:txBody>
                    <a:bodyPr/>
                    <a:lstStyle/>
                    <a:p>
                      <a:r>
                        <a:rPr lang="en-US" sz="1400" b="1" dirty="0"/>
                        <a:t>excel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855988"/>
                  </a:ext>
                </a:extLst>
              </a:tr>
              <a:tr h="259564">
                <a:tc>
                  <a:txBody>
                    <a:bodyPr/>
                    <a:lstStyle/>
                    <a:p>
                      <a:r>
                        <a:rPr lang="en-US" sz="1400" b="1" dirty="0"/>
                        <a:t>pdf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0390396"/>
                  </a:ext>
                </a:extLst>
              </a:tr>
              <a:tr h="259564">
                <a:tc>
                  <a:txBody>
                    <a:bodyPr/>
                    <a:lstStyle/>
                    <a:p>
                      <a:r>
                        <a:rPr lang="en-US" sz="1400" b="1" dirty="0"/>
                        <a:t>Txt/word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87805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50754F9-9BF2-92AD-32E1-F8FFE54565BF}"/>
              </a:ext>
            </a:extLst>
          </p:cNvPr>
          <p:cNvSpPr txBox="1"/>
          <p:nvPr/>
        </p:nvSpPr>
        <p:spPr>
          <a:xfrm>
            <a:off x="10035336" y="256347"/>
            <a:ext cx="806678" cy="2616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Chainlit UI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465463-D057-125A-6D91-FD7C5A806302}"/>
              </a:ext>
            </a:extLst>
          </p:cNvPr>
          <p:cNvSpPr txBox="1"/>
          <p:nvPr/>
        </p:nvSpPr>
        <p:spPr>
          <a:xfrm>
            <a:off x="6959137" y="323379"/>
            <a:ext cx="1453057" cy="282254"/>
          </a:xfrm>
          <a:prstGeom prst="rect">
            <a:avLst/>
          </a:prstGeom>
          <a:solidFill>
            <a:schemeClr val="bg1">
              <a:lumMod val="85000"/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000" dirty="0">
                <a:solidFill>
                  <a:schemeClr val="tx1"/>
                </a:solidFill>
              </a:rPr>
              <a:t>Login &amp; Identify User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026084-6B0F-62E0-E6E8-041945872CA3}"/>
              </a:ext>
            </a:extLst>
          </p:cNvPr>
          <p:cNvSpPr txBox="1"/>
          <p:nvPr/>
        </p:nvSpPr>
        <p:spPr>
          <a:xfrm>
            <a:off x="6951619" y="715622"/>
            <a:ext cx="1520776" cy="363900"/>
          </a:xfrm>
          <a:prstGeom prst="rect">
            <a:avLst/>
          </a:prstGeom>
          <a:solidFill>
            <a:schemeClr val="bg1">
              <a:lumMod val="85000"/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Check if user container already exists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D56FDF-0BB6-6026-8AC3-951BC1997D7A}"/>
              </a:ext>
            </a:extLst>
          </p:cNvPr>
          <p:cNvSpPr txBox="1"/>
          <p:nvPr/>
        </p:nvSpPr>
        <p:spPr>
          <a:xfrm>
            <a:off x="5646404" y="1727084"/>
            <a:ext cx="7237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-35" dirty="0">
                <a:solidFill>
                  <a:srgbClr val="010101"/>
                </a:solidFill>
                <a:latin typeface="Arial"/>
                <a:cs typeface="Arial"/>
              </a:rPr>
              <a:t>New</a:t>
            </a:r>
            <a:r>
              <a:rPr lang="en-US" sz="1000" spc="-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lang="en-US" sz="1000" spc="-40" dirty="0">
                <a:solidFill>
                  <a:srgbClr val="010101"/>
                </a:solidFill>
                <a:latin typeface="Arial"/>
                <a:cs typeface="Arial"/>
              </a:rPr>
              <a:t>user</a:t>
            </a:r>
            <a:endParaRPr lang="en-US" sz="1000" dirty="0">
              <a:latin typeface="Arial"/>
              <a:cs typeface="Arial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56A05E6-A82B-ABBF-E6BD-CC3B51E9A363}"/>
              </a:ext>
            </a:extLst>
          </p:cNvPr>
          <p:cNvCxnSpPr>
            <a:cxnSpLocks/>
          </p:cNvCxnSpPr>
          <p:nvPr/>
        </p:nvCxnSpPr>
        <p:spPr>
          <a:xfrm>
            <a:off x="7666958" y="1703141"/>
            <a:ext cx="0" cy="2893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7CBDE5FA-BAEA-CDBA-6B59-AF81BBF82EE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64791" y="1984846"/>
            <a:ext cx="1834688" cy="3479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56BFCD5-4461-AC1D-86FD-3609C70EABD6}"/>
              </a:ext>
            </a:extLst>
          </p:cNvPr>
          <p:cNvSpPr/>
          <p:nvPr/>
        </p:nvSpPr>
        <p:spPr>
          <a:xfrm>
            <a:off x="5421479" y="2344377"/>
            <a:ext cx="1286623" cy="34799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Create container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52222E72-BC98-9A7A-ED03-35016DA8B13D}"/>
              </a:ext>
            </a:extLst>
          </p:cNvPr>
          <p:cNvCxnSpPr>
            <a:cxnSpLocks/>
          </p:cNvCxnSpPr>
          <p:nvPr/>
        </p:nvCxnSpPr>
        <p:spPr>
          <a:xfrm>
            <a:off x="7896176" y="1984848"/>
            <a:ext cx="1063897" cy="347988"/>
          </a:xfrm>
          <a:prstGeom prst="bentConnector3">
            <a:avLst>
              <a:gd name="adj1" fmla="val 1002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83320403-6DBD-F979-ABF3-B11479D3F94D}"/>
              </a:ext>
            </a:extLst>
          </p:cNvPr>
          <p:cNvSpPr txBox="1"/>
          <p:nvPr/>
        </p:nvSpPr>
        <p:spPr>
          <a:xfrm>
            <a:off x="8587341" y="1761708"/>
            <a:ext cx="9899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900" dirty="0">
                <a:latin typeface="Arial"/>
                <a:cs typeface="Arial"/>
              </a:rPr>
              <a:t>Returning user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F142871-4932-306F-46B7-3BE8D9CDE4DA}"/>
              </a:ext>
            </a:extLst>
          </p:cNvPr>
          <p:cNvSpPr/>
          <p:nvPr/>
        </p:nvSpPr>
        <p:spPr>
          <a:xfrm>
            <a:off x="8192032" y="2332836"/>
            <a:ext cx="1385252" cy="34799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Existing container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FEE7EC9-6AC8-2932-BD6A-F1342CDC1F67}"/>
              </a:ext>
            </a:extLst>
          </p:cNvPr>
          <p:cNvCxnSpPr>
            <a:cxnSpLocks/>
          </p:cNvCxnSpPr>
          <p:nvPr/>
        </p:nvCxnSpPr>
        <p:spPr>
          <a:xfrm flipH="1">
            <a:off x="8436024" y="429066"/>
            <a:ext cx="156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ight Brace 88">
            <a:extLst>
              <a:ext uri="{FF2B5EF4-FFF2-40B4-BE49-F238E27FC236}">
                <a16:creationId xmlns:a16="http://schemas.microsoft.com/office/drawing/2014/main" id="{1E4F3271-A5D6-EAD4-D4EA-33C6722C8D99}"/>
              </a:ext>
            </a:extLst>
          </p:cNvPr>
          <p:cNvSpPr/>
          <p:nvPr/>
        </p:nvSpPr>
        <p:spPr>
          <a:xfrm rot="5400000">
            <a:off x="7215780" y="1480192"/>
            <a:ext cx="725248" cy="3149600"/>
          </a:xfrm>
          <a:prstGeom prst="rightBrace">
            <a:avLst>
              <a:gd name="adj1" fmla="val 8333"/>
              <a:gd name="adj2" fmla="val 491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A9048F7-7488-DF97-7E0A-9385EE7B6B22}"/>
              </a:ext>
            </a:extLst>
          </p:cNvPr>
          <p:cNvSpPr/>
          <p:nvPr/>
        </p:nvSpPr>
        <p:spPr>
          <a:xfrm>
            <a:off x="6917956" y="3342664"/>
            <a:ext cx="1520776" cy="46806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📁 </a:t>
            </a:r>
            <a:r>
              <a:rPr lang="en-US" sz="1000" b="1" dirty="0"/>
              <a:t>Create and upload folder with current timestamp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49736F7-043A-FAE0-347A-4F992C035875}"/>
              </a:ext>
            </a:extLst>
          </p:cNvPr>
          <p:cNvSpPr txBox="1"/>
          <p:nvPr/>
        </p:nvSpPr>
        <p:spPr>
          <a:xfrm>
            <a:off x="6370166" y="4239823"/>
            <a:ext cx="704497" cy="262238"/>
          </a:xfrm>
          <a:prstGeom prst="rect">
            <a:avLst/>
          </a:prstGeom>
          <a:solidFill>
            <a:schemeClr val="bg1">
              <a:lumMod val="85000"/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PDF/TXT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2D6CC1D-93AE-602F-06C3-0D25EBCB1B27}"/>
              </a:ext>
            </a:extLst>
          </p:cNvPr>
          <p:cNvSpPr txBox="1"/>
          <p:nvPr/>
        </p:nvSpPr>
        <p:spPr>
          <a:xfrm>
            <a:off x="8097449" y="4239822"/>
            <a:ext cx="862623" cy="333175"/>
          </a:xfrm>
          <a:prstGeom prst="rect">
            <a:avLst/>
          </a:prstGeom>
          <a:solidFill>
            <a:schemeClr val="bg1">
              <a:lumMod val="85000"/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</a:rPr>
              <a:t>CSV/Excel</a:t>
            </a:r>
          </a:p>
        </p:txBody>
      </p:sp>
      <p:sp>
        <p:nvSpPr>
          <p:cNvPr id="100" name="Left Brace 99">
            <a:extLst>
              <a:ext uri="{FF2B5EF4-FFF2-40B4-BE49-F238E27FC236}">
                <a16:creationId xmlns:a16="http://schemas.microsoft.com/office/drawing/2014/main" id="{3CAFF2BD-23F9-E1AA-7944-F0C477EF4636}"/>
              </a:ext>
            </a:extLst>
          </p:cNvPr>
          <p:cNvSpPr/>
          <p:nvPr/>
        </p:nvSpPr>
        <p:spPr>
          <a:xfrm rot="5400000">
            <a:off x="7405239" y="3223907"/>
            <a:ext cx="409129" cy="15827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EBA0C5E-5EFF-BC34-9242-578F90FEE50A}"/>
              </a:ext>
            </a:extLst>
          </p:cNvPr>
          <p:cNvGrpSpPr/>
          <p:nvPr/>
        </p:nvGrpSpPr>
        <p:grpSpPr>
          <a:xfrm>
            <a:off x="7972547" y="5502533"/>
            <a:ext cx="1817806" cy="725248"/>
            <a:chOff x="5727183" y="5490166"/>
            <a:chExt cx="1817806" cy="725248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FF9C033-3772-6186-0D92-6098CDF981B7}"/>
                </a:ext>
              </a:extLst>
            </p:cNvPr>
            <p:cNvSpPr/>
            <p:nvPr/>
          </p:nvSpPr>
          <p:spPr>
            <a:xfrm>
              <a:off x="5727183" y="5490166"/>
              <a:ext cx="1817806" cy="725248"/>
            </a:xfrm>
            <a:prstGeom prst="rect">
              <a:avLst/>
            </a:prstGeom>
            <a:solidFill>
              <a:schemeClr val="bg1">
                <a:lumMod val="85000"/>
                <a:alpha val="5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endParaRPr lang="en-IN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D9CB5FEE-928A-936A-E799-7C05F2D3A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9632" y="5626001"/>
              <a:ext cx="351243" cy="347991"/>
            </a:xfrm>
            <a:prstGeom prst="rect">
              <a:avLst/>
            </a:prstGeom>
          </p:spPr>
        </p:pic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F9FF5BFE-4AC5-BBFD-CD34-B05B3A1FC805}"/>
              </a:ext>
            </a:extLst>
          </p:cNvPr>
          <p:cNvSpPr txBox="1"/>
          <p:nvPr/>
        </p:nvSpPr>
        <p:spPr>
          <a:xfrm>
            <a:off x="7074663" y="1408400"/>
            <a:ext cx="13613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Data Storage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E346CD8-1B8E-9A14-2057-28BED53E3F27}"/>
              </a:ext>
            </a:extLst>
          </p:cNvPr>
          <p:cNvCxnSpPr>
            <a:cxnSpLocks/>
          </p:cNvCxnSpPr>
          <p:nvPr/>
        </p:nvCxnSpPr>
        <p:spPr>
          <a:xfrm>
            <a:off x="7666958" y="1098116"/>
            <a:ext cx="0" cy="252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B9BE34C-09BA-F51B-8842-7B4904101350}"/>
              </a:ext>
            </a:extLst>
          </p:cNvPr>
          <p:cNvCxnSpPr>
            <a:cxnSpLocks/>
          </p:cNvCxnSpPr>
          <p:nvPr/>
        </p:nvCxnSpPr>
        <p:spPr>
          <a:xfrm>
            <a:off x="8586328" y="4581670"/>
            <a:ext cx="1013" cy="92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25F0FA17-C77E-FEB7-88EE-AEF34FFBE1D7}"/>
              </a:ext>
            </a:extLst>
          </p:cNvPr>
          <p:cNvCxnSpPr>
            <a:cxnSpLocks/>
          </p:cNvCxnSpPr>
          <p:nvPr/>
        </p:nvCxnSpPr>
        <p:spPr>
          <a:xfrm rot="10800000">
            <a:off x="4280639" y="2378252"/>
            <a:ext cx="2039757" cy="1991271"/>
          </a:xfrm>
          <a:prstGeom prst="bentConnector3">
            <a:avLst>
              <a:gd name="adj1" fmla="val 645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4" name="Picture 163">
            <a:extLst>
              <a:ext uri="{FF2B5EF4-FFF2-40B4-BE49-F238E27FC236}">
                <a16:creationId xmlns:a16="http://schemas.microsoft.com/office/drawing/2014/main" id="{E6AC3583-DC36-6D47-B63D-275575B557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450" y="754509"/>
            <a:ext cx="853882" cy="3141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</p:pic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64DD9DC-33A3-8CB0-5B67-FB6035EA749D}"/>
              </a:ext>
            </a:extLst>
          </p:cNvPr>
          <p:cNvCxnSpPr>
            <a:cxnSpLocks/>
          </p:cNvCxnSpPr>
          <p:nvPr/>
        </p:nvCxnSpPr>
        <p:spPr>
          <a:xfrm>
            <a:off x="8472395" y="883563"/>
            <a:ext cx="409055" cy="14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3473F73A-7956-23CB-814A-90FC03680272}"/>
              </a:ext>
            </a:extLst>
          </p:cNvPr>
          <p:cNvGrpSpPr/>
          <p:nvPr/>
        </p:nvGrpSpPr>
        <p:grpSpPr>
          <a:xfrm>
            <a:off x="215194" y="197115"/>
            <a:ext cx="4031932" cy="6463769"/>
            <a:chOff x="3459638" y="197115"/>
            <a:chExt cx="4355183" cy="6463769"/>
          </a:xfrm>
        </p:grpSpPr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21E1150F-45EE-3D66-20AD-F0E88E92668E}"/>
                </a:ext>
              </a:extLst>
            </p:cNvPr>
            <p:cNvGrpSpPr/>
            <p:nvPr/>
          </p:nvGrpSpPr>
          <p:grpSpPr>
            <a:xfrm>
              <a:off x="3459638" y="197115"/>
              <a:ext cx="4355183" cy="6463769"/>
              <a:chOff x="641023" y="94268"/>
              <a:chExt cx="4355183" cy="6463769"/>
            </a:xfrm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25E63BFC-66B3-F482-0AA2-25B937C11C66}"/>
                  </a:ext>
                </a:extLst>
              </p:cNvPr>
              <p:cNvSpPr/>
              <p:nvPr/>
            </p:nvSpPr>
            <p:spPr>
              <a:xfrm>
                <a:off x="641023" y="94268"/>
                <a:ext cx="4355183" cy="64637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044F0AD7-FEAF-1694-47E6-1C84BBA143FB}"/>
                  </a:ext>
                </a:extLst>
              </p:cNvPr>
              <p:cNvSpPr/>
              <p:nvPr/>
            </p:nvSpPr>
            <p:spPr>
              <a:xfrm>
                <a:off x="1754074" y="1629932"/>
                <a:ext cx="1252212" cy="77016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Chunk based on headings using docling/Marker</a:t>
                </a:r>
              </a:p>
            </p:txBody>
          </p:sp>
          <p:cxnSp>
            <p:nvCxnSpPr>
              <p:cNvPr id="203" name="Straight Arrow Connector 202">
                <a:extLst>
                  <a:ext uri="{FF2B5EF4-FFF2-40B4-BE49-F238E27FC236}">
                    <a16:creationId xmlns:a16="http://schemas.microsoft.com/office/drawing/2014/main" id="{0D3670B5-94A3-B0C5-2288-92E6CAEDE7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0180" y="936655"/>
                <a:ext cx="0" cy="6790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762BE2FC-ED1F-A808-A09B-9063C59F95F9}"/>
                  </a:ext>
                </a:extLst>
              </p:cNvPr>
              <p:cNvGrpSpPr/>
              <p:nvPr/>
            </p:nvGrpSpPr>
            <p:grpSpPr>
              <a:xfrm>
                <a:off x="1599685" y="299963"/>
                <a:ext cx="1537410" cy="679010"/>
                <a:chOff x="1620569" y="1630924"/>
                <a:chExt cx="2163777" cy="679010"/>
              </a:xfrm>
            </p:grpSpPr>
            <p:sp>
              <p:nvSpPr>
                <p:cNvPr id="218" name="Rectangle 217">
                  <a:extLst>
                    <a:ext uri="{FF2B5EF4-FFF2-40B4-BE49-F238E27FC236}">
                      <a16:creationId xmlns:a16="http://schemas.microsoft.com/office/drawing/2014/main" id="{F7B01456-3CA8-A8B9-54D2-01DFEF4D1071}"/>
                    </a:ext>
                  </a:extLst>
                </p:cNvPr>
                <p:cNvSpPr/>
                <p:nvPr/>
              </p:nvSpPr>
              <p:spPr>
                <a:xfrm>
                  <a:off x="1620569" y="1630924"/>
                  <a:ext cx="2163777" cy="67901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A5B7BD01-F482-A71E-DB0F-6926BEAB9006}"/>
                    </a:ext>
                  </a:extLst>
                </p:cNvPr>
                <p:cNvSpPr txBox="1"/>
                <p:nvPr/>
              </p:nvSpPr>
              <p:spPr>
                <a:xfrm>
                  <a:off x="1729211" y="1729212"/>
                  <a:ext cx="192838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User inputs PDF or word document</a:t>
                  </a:r>
                </a:p>
              </p:txBody>
            </p:sp>
          </p:grpSp>
          <p:pic>
            <p:nvPicPr>
              <p:cNvPr id="205" name="Picture 204">
                <a:extLst>
                  <a:ext uri="{FF2B5EF4-FFF2-40B4-BE49-F238E27FC236}">
                    <a16:creationId xmlns:a16="http://schemas.microsoft.com/office/drawing/2014/main" id="{4722653C-6954-163D-F1B5-393CBB3554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83977" y="1244850"/>
                <a:ext cx="1003934" cy="45391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70E04A5A-4F0D-9176-1D69-EE0C60B755C5}"/>
                  </a:ext>
                </a:extLst>
              </p:cNvPr>
              <p:cNvGrpSpPr/>
              <p:nvPr/>
            </p:nvGrpSpPr>
            <p:grpSpPr>
              <a:xfrm>
                <a:off x="3645843" y="2003632"/>
                <a:ext cx="1036105" cy="396460"/>
                <a:chOff x="3368426" y="2139886"/>
                <a:chExt cx="990072" cy="509045"/>
              </a:xfrm>
            </p:grpSpPr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B7C61B1D-4D5C-37BB-9944-0519D039883D}"/>
                    </a:ext>
                  </a:extLst>
                </p:cNvPr>
                <p:cNvSpPr/>
                <p:nvPr/>
              </p:nvSpPr>
              <p:spPr>
                <a:xfrm>
                  <a:off x="3368426" y="2139886"/>
                  <a:ext cx="990072" cy="509045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3269F624-E0D6-2C52-DE7D-A8A647BAAEAA}"/>
                    </a:ext>
                  </a:extLst>
                </p:cNvPr>
                <p:cNvSpPr txBox="1"/>
                <p:nvPr/>
              </p:nvSpPr>
              <p:spPr>
                <a:xfrm>
                  <a:off x="3368426" y="2204296"/>
                  <a:ext cx="82013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Marker</a:t>
                  </a:r>
                </a:p>
              </p:txBody>
            </p:sp>
          </p:grpSp>
          <p:sp>
            <p:nvSpPr>
              <p:cNvPr id="207" name="Left Brace 206">
                <a:extLst>
                  <a:ext uri="{FF2B5EF4-FFF2-40B4-BE49-F238E27FC236}">
                    <a16:creationId xmlns:a16="http://schemas.microsoft.com/office/drawing/2014/main" id="{99310E82-7123-1EC7-36A4-FC61927E6795}"/>
                  </a:ext>
                </a:extLst>
              </p:cNvPr>
              <p:cNvSpPr/>
              <p:nvPr/>
            </p:nvSpPr>
            <p:spPr>
              <a:xfrm>
                <a:off x="3044418" y="1430258"/>
                <a:ext cx="601426" cy="770162"/>
              </a:xfrm>
              <a:prstGeom prst="leftBrace">
                <a:avLst>
                  <a:gd name="adj1" fmla="val 0"/>
                  <a:gd name="adj2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8" name="Flowchart: Decision 207">
                <a:extLst>
                  <a:ext uri="{FF2B5EF4-FFF2-40B4-BE49-F238E27FC236}">
                    <a16:creationId xmlns:a16="http://schemas.microsoft.com/office/drawing/2014/main" id="{26BEB2C0-83BA-7126-2AE4-8F508CB024CD}"/>
                  </a:ext>
                </a:extLst>
              </p:cNvPr>
              <p:cNvSpPr/>
              <p:nvPr/>
            </p:nvSpPr>
            <p:spPr>
              <a:xfrm>
                <a:off x="1640299" y="2823329"/>
                <a:ext cx="1496796" cy="1314120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Does content under heading exceed</a:t>
                </a:r>
              </a:p>
            </p:txBody>
          </p:sp>
          <p:cxnSp>
            <p:nvCxnSpPr>
              <p:cNvPr id="209" name="Straight Arrow Connector 208">
                <a:extLst>
                  <a:ext uri="{FF2B5EF4-FFF2-40B4-BE49-F238E27FC236}">
                    <a16:creationId xmlns:a16="http://schemas.microsoft.com/office/drawing/2014/main" id="{C7555C81-394B-50BF-5325-28B266860B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8697" y="4137449"/>
                <a:ext cx="0" cy="4345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36CE7FBC-BCB3-59FF-3E0D-B0952D432DDD}"/>
                  </a:ext>
                </a:extLst>
              </p:cNvPr>
              <p:cNvCxnSpPr>
                <a:cxnSpLocks/>
                <a:stCxn id="202" idx="2"/>
              </p:cNvCxnSpPr>
              <p:nvPr/>
            </p:nvCxnSpPr>
            <p:spPr>
              <a:xfrm>
                <a:off x="2380180" y="2400094"/>
                <a:ext cx="0" cy="4204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EE146CF8-9228-BAD0-86EF-EEE13A2DE0C7}"/>
                  </a:ext>
                </a:extLst>
              </p:cNvPr>
              <p:cNvSpPr txBox="1"/>
              <p:nvPr/>
            </p:nvSpPr>
            <p:spPr>
              <a:xfrm>
                <a:off x="1640299" y="4182430"/>
                <a:ext cx="462099" cy="30777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yes</a:t>
                </a:r>
              </a:p>
            </p:txBody>
          </p:sp>
          <p:sp>
            <p:nvSpPr>
              <p:cNvPr id="212" name="Rectangle: Rounded Corners 211">
                <a:extLst>
                  <a:ext uri="{FF2B5EF4-FFF2-40B4-BE49-F238E27FC236}">
                    <a16:creationId xmlns:a16="http://schemas.microsoft.com/office/drawing/2014/main" id="{7DAA16C5-1454-ADD2-A840-9A11CEA4F9A7}"/>
                  </a:ext>
                </a:extLst>
              </p:cNvPr>
              <p:cNvSpPr/>
              <p:nvPr/>
            </p:nvSpPr>
            <p:spPr>
              <a:xfrm>
                <a:off x="1678434" y="4572001"/>
                <a:ext cx="1327852" cy="79185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Semantically chunk that paragraph</a:t>
                </a:r>
              </a:p>
            </p:txBody>
          </p:sp>
          <p:sp>
            <p:nvSpPr>
              <p:cNvPr id="213" name="Rectangle: Rounded Corners 212">
                <a:extLst>
                  <a:ext uri="{FF2B5EF4-FFF2-40B4-BE49-F238E27FC236}">
                    <a16:creationId xmlns:a16="http://schemas.microsoft.com/office/drawing/2014/main" id="{5FEADDA6-7728-4C11-3607-C7798D7CA880}"/>
                  </a:ext>
                </a:extLst>
              </p:cNvPr>
              <p:cNvSpPr/>
              <p:nvPr/>
            </p:nvSpPr>
            <p:spPr>
              <a:xfrm>
                <a:off x="1184607" y="5585879"/>
                <a:ext cx="2180762" cy="79185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Stire each heading and corresponding chunks in vector database</a:t>
                </a:r>
              </a:p>
            </p:txBody>
          </p: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40E26DCC-3772-B9A8-1726-444C21235F3F}"/>
                  </a:ext>
                </a:extLst>
              </p:cNvPr>
              <p:cNvCxnSpPr>
                <a:cxnSpLocks/>
                <a:stCxn id="208" idx="3"/>
              </p:cNvCxnSpPr>
              <p:nvPr/>
            </p:nvCxnSpPr>
            <p:spPr>
              <a:xfrm>
                <a:off x="3137095" y="3480389"/>
                <a:ext cx="7467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Connector: Elbow 214">
                <a:extLst>
                  <a:ext uri="{FF2B5EF4-FFF2-40B4-BE49-F238E27FC236}">
                    <a16:creationId xmlns:a16="http://schemas.microsoft.com/office/drawing/2014/main" id="{2B018634-ADB3-78BB-83AA-13EA9D8F8FF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363755" y="4423228"/>
                <a:ext cx="2501416" cy="546755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852448A9-8400-E5FE-5B45-7B4C9A66BB7C}"/>
                </a:ext>
              </a:extLst>
            </p:cNvPr>
            <p:cNvSpPr txBox="1"/>
            <p:nvPr/>
          </p:nvSpPr>
          <p:spPr>
            <a:xfrm>
              <a:off x="5931689" y="3246773"/>
              <a:ext cx="504589" cy="27699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</p:grp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86367B2-26F4-85CC-209D-F078D6D48386}"/>
              </a:ext>
            </a:extLst>
          </p:cNvPr>
          <p:cNvSpPr/>
          <p:nvPr/>
        </p:nvSpPr>
        <p:spPr>
          <a:xfrm>
            <a:off x="6432274" y="5130203"/>
            <a:ext cx="1376774" cy="5521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b="1" dirty="0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Semantic kernel </a:t>
            </a:r>
          </a:p>
        </p:txBody>
      </p:sp>
      <p:cxnSp>
        <p:nvCxnSpPr>
          <p:cNvPr id="228" name="Connector: Elbow 227">
            <a:extLst>
              <a:ext uri="{FF2B5EF4-FFF2-40B4-BE49-F238E27FC236}">
                <a16:creationId xmlns:a16="http://schemas.microsoft.com/office/drawing/2014/main" id="{56E2EC5D-A164-7A59-0A3C-42B3BE93B0DE}"/>
              </a:ext>
            </a:extLst>
          </p:cNvPr>
          <p:cNvCxnSpPr>
            <a:cxnSpLocks/>
            <a:stCxn id="225" idx="2"/>
            <a:endCxn id="103" idx="1"/>
          </p:cNvCxnSpPr>
          <p:nvPr/>
        </p:nvCxnSpPr>
        <p:spPr>
          <a:xfrm rot="16200000" flipH="1">
            <a:off x="7455220" y="5347829"/>
            <a:ext cx="182769" cy="8518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659319D6-9B00-7586-69D2-F972C286F3C2}"/>
              </a:ext>
            </a:extLst>
          </p:cNvPr>
          <p:cNvCxnSpPr>
            <a:cxnSpLocks/>
          </p:cNvCxnSpPr>
          <p:nvPr/>
        </p:nvCxnSpPr>
        <p:spPr>
          <a:xfrm>
            <a:off x="6613451" y="4502061"/>
            <a:ext cx="0" cy="628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: Elbow 240">
            <a:extLst>
              <a:ext uri="{FF2B5EF4-FFF2-40B4-BE49-F238E27FC236}">
                <a16:creationId xmlns:a16="http://schemas.microsoft.com/office/drawing/2014/main" id="{5FDEA72A-E3EB-97A9-4142-5D438612A9B3}"/>
              </a:ext>
            </a:extLst>
          </p:cNvPr>
          <p:cNvCxnSpPr/>
          <p:nvPr/>
        </p:nvCxnSpPr>
        <p:spPr>
          <a:xfrm rot="5400000">
            <a:off x="7482351" y="4502463"/>
            <a:ext cx="711152" cy="519045"/>
          </a:xfrm>
          <a:prstGeom prst="bentConnector3">
            <a:avLst>
              <a:gd name="adj1" fmla="val 141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C6B4E2EE-986C-A94E-73C1-17327E37A352}"/>
              </a:ext>
            </a:extLst>
          </p:cNvPr>
          <p:cNvSpPr txBox="1"/>
          <p:nvPr/>
        </p:nvSpPr>
        <p:spPr>
          <a:xfrm>
            <a:off x="8552792" y="5677270"/>
            <a:ext cx="1106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Table agent</a:t>
            </a: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CC530848-3959-D3B5-B061-1B5D3D55DC67}"/>
              </a:ext>
            </a:extLst>
          </p:cNvPr>
          <p:cNvCxnSpPr/>
          <p:nvPr/>
        </p:nvCxnSpPr>
        <p:spPr>
          <a:xfrm flipH="1">
            <a:off x="6065712" y="5423417"/>
            <a:ext cx="366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601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BD61150C-5135-F597-0990-28FB8C556EC1}"/>
              </a:ext>
            </a:extLst>
          </p:cNvPr>
          <p:cNvGrpSpPr/>
          <p:nvPr/>
        </p:nvGrpSpPr>
        <p:grpSpPr>
          <a:xfrm>
            <a:off x="628850" y="255181"/>
            <a:ext cx="10934299" cy="6106793"/>
            <a:chOff x="874279" y="50951"/>
            <a:chExt cx="10934299" cy="5720732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FBE8980-3B3F-41D9-496A-192F3165F6FB}"/>
                </a:ext>
              </a:extLst>
            </p:cNvPr>
            <p:cNvSpPr/>
            <p:nvPr/>
          </p:nvSpPr>
          <p:spPr>
            <a:xfrm>
              <a:off x="874279" y="50951"/>
              <a:ext cx="10934299" cy="572073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2507E6E-095D-6E01-E858-68EF5391263C}"/>
                </a:ext>
              </a:extLst>
            </p:cNvPr>
            <p:cNvSpPr/>
            <p:nvPr/>
          </p:nvSpPr>
          <p:spPr>
            <a:xfrm>
              <a:off x="3046395" y="164778"/>
              <a:ext cx="1977992" cy="3195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[User opens Chainlit UI]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254EA9-EACA-5474-C6FB-69EDC1195905}"/>
                </a:ext>
              </a:extLst>
            </p:cNvPr>
            <p:cNvSpPr/>
            <p:nvPr/>
          </p:nvSpPr>
          <p:spPr>
            <a:xfrm>
              <a:off x="2654967" y="840607"/>
              <a:ext cx="2937309" cy="4132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[User enters username &amp; password]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9A8EB1-25A0-23E5-ACCD-F81A9EE1C50B}"/>
                </a:ext>
              </a:extLst>
            </p:cNvPr>
            <p:cNvSpPr/>
            <p:nvPr/>
          </p:nvSpPr>
          <p:spPr>
            <a:xfrm>
              <a:off x="1881311" y="4621403"/>
              <a:ext cx="3910853" cy="4896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 Create Azure container: username + timestamp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3AD875E-C4E8-9EC1-A378-DB3B3C11F397}"/>
                </a:ext>
              </a:extLst>
            </p:cNvPr>
            <p:cNvGrpSpPr/>
            <p:nvPr/>
          </p:nvGrpSpPr>
          <p:grpSpPr>
            <a:xfrm>
              <a:off x="1982874" y="1469514"/>
              <a:ext cx="4184045" cy="1944303"/>
              <a:chOff x="1039527" y="2184935"/>
              <a:chExt cx="4443233" cy="1944303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390CA49-4870-4296-5E5F-76E32FC922C9}"/>
                  </a:ext>
                </a:extLst>
              </p:cNvPr>
              <p:cNvSpPr/>
              <p:nvPr/>
            </p:nvSpPr>
            <p:spPr>
              <a:xfrm>
                <a:off x="1039527" y="2184935"/>
                <a:ext cx="4443233" cy="1944303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470EBC4-BF73-50D1-E850-2F50D9D611DD}"/>
                  </a:ext>
                </a:extLst>
              </p:cNvPr>
              <p:cNvSpPr/>
              <p:nvPr/>
            </p:nvSpPr>
            <p:spPr>
              <a:xfrm>
                <a:off x="1363578" y="3384885"/>
                <a:ext cx="468430" cy="4523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/>
                  <a:t>Yes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2BFAAB8-6F35-86A5-C530-2501F96BD30A}"/>
                  </a:ext>
                </a:extLst>
              </p:cNvPr>
              <p:cNvSpPr/>
              <p:nvPr/>
            </p:nvSpPr>
            <p:spPr>
              <a:xfrm>
                <a:off x="1225616" y="2423560"/>
                <a:ext cx="3769896" cy="46401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300" dirty="0">
                    <a:solidFill>
                      <a:schemeClr val="tx1"/>
                    </a:solidFill>
                  </a:rPr>
                  <a:t>Python checks in SQLite DB or excel : Does user exist?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A4710FF-9440-82AF-B72B-C3EF462F1C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7793" y="2887579"/>
                <a:ext cx="0" cy="4523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6D56F1C5-66EC-B997-C939-50FD2BDFD9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8973" y="2887579"/>
                <a:ext cx="0" cy="4523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D8E12742-2895-0FBB-C9EE-F63748DC0A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2446" y="2887579"/>
                <a:ext cx="0" cy="4523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EBBB202-1575-9051-2276-3D11A65995DF}"/>
                  </a:ext>
                </a:extLst>
              </p:cNvPr>
              <p:cNvSpPr/>
              <p:nvPr/>
            </p:nvSpPr>
            <p:spPr>
              <a:xfrm>
                <a:off x="2630904" y="3384885"/>
                <a:ext cx="468430" cy="4523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/>
                  <a:t>No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3AF721E-3E84-C1C2-5975-6639AB7B2FC6}"/>
                  </a:ext>
                </a:extLst>
              </p:cNvPr>
              <p:cNvSpPr/>
              <p:nvPr/>
            </p:nvSpPr>
            <p:spPr>
              <a:xfrm>
                <a:off x="3898230" y="3384885"/>
                <a:ext cx="1097275" cy="4523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/>
                  <a:t>Invalid</a:t>
                </a:r>
                <a:r>
                  <a:rPr lang="en-US" sz="1200" dirty="0"/>
                  <a:t> </a:t>
                </a:r>
                <a:r>
                  <a:rPr lang="en-US" sz="1400" dirty="0"/>
                  <a:t>Password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3E4670A-347D-E151-E419-1759B21C1F83}"/>
                </a:ext>
              </a:extLst>
            </p:cNvPr>
            <p:cNvGrpSpPr/>
            <p:nvPr/>
          </p:nvGrpSpPr>
          <p:grpSpPr>
            <a:xfrm>
              <a:off x="1881311" y="3711441"/>
              <a:ext cx="3143076" cy="480029"/>
              <a:chOff x="7702991" y="1466850"/>
              <a:chExt cx="3143076" cy="480029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58D5B44-9038-E05A-56DC-0440AC297AF6}"/>
                  </a:ext>
                </a:extLst>
              </p:cNvPr>
              <p:cNvSpPr/>
              <p:nvPr/>
            </p:nvSpPr>
            <p:spPr>
              <a:xfrm>
                <a:off x="7702991" y="1466850"/>
                <a:ext cx="2467276" cy="48002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2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0E59BB5-5DFB-241A-79F1-A626313B4DF3}"/>
                  </a:ext>
                </a:extLst>
              </p:cNvPr>
              <p:cNvSpPr txBox="1"/>
              <p:nvPr/>
            </p:nvSpPr>
            <p:spPr>
              <a:xfrm>
                <a:off x="7808094" y="1552975"/>
                <a:ext cx="303797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 [Get current UTC timestamp]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8A58C8A-4610-2FAB-9B71-E61C1DE54979}"/>
                </a:ext>
              </a:extLst>
            </p:cNvPr>
            <p:cNvSpPr/>
            <p:nvPr/>
          </p:nvSpPr>
          <p:spPr>
            <a:xfrm>
              <a:off x="8002560" y="4678792"/>
              <a:ext cx="1559292" cy="442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 Proceed with upload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45CDC91-7927-8111-7930-BF7DEE9E10E1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4035391" y="484318"/>
              <a:ext cx="0" cy="3495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442FC10-B625-7AE2-6B06-07E2A423528A}"/>
                </a:ext>
              </a:extLst>
            </p:cNvPr>
            <p:cNvCxnSpPr/>
            <p:nvPr/>
          </p:nvCxnSpPr>
          <p:spPr>
            <a:xfrm flipH="1">
              <a:off x="4035391" y="1125753"/>
              <a:ext cx="0" cy="3589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28CD244-B4FF-22A1-6608-5FF5509764F7}"/>
                </a:ext>
              </a:extLst>
            </p:cNvPr>
            <p:cNvCxnSpPr>
              <a:cxnSpLocks/>
            </p:cNvCxnSpPr>
            <p:nvPr/>
          </p:nvCxnSpPr>
          <p:spPr>
            <a:xfrm>
              <a:off x="2551487" y="3131687"/>
              <a:ext cx="0" cy="5047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529C720-FD6D-5998-2B08-6B9FB534457B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5792164" y="4866209"/>
              <a:ext cx="5492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BF2BF27-2D3F-D3DD-EBFE-F68D4FD37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3295" y="4842783"/>
              <a:ext cx="54926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9C73F34-80CB-E017-4306-614989371224}"/>
                </a:ext>
              </a:extLst>
            </p:cNvPr>
            <p:cNvCxnSpPr>
              <a:cxnSpLocks/>
            </p:cNvCxnSpPr>
            <p:nvPr/>
          </p:nvCxnSpPr>
          <p:spPr>
            <a:xfrm>
              <a:off x="2522210" y="4215132"/>
              <a:ext cx="0" cy="3589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11BBC487-9E1B-7821-FF88-87E048C96F47}"/>
              </a:ext>
            </a:extLst>
          </p:cNvPr>
          <p:cNvSpPr txBox="1"/>
          <p:nvPr/>
        </p:nvSpPr>
        <p:spPr>
          <a:xfrm>
            <a:off x="9206549" y="496026"/>
            <a:ext cx="2214520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Authentication Flow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7E44FD7A-036D-FB87-8D4F-DF644BE40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654" y="2128312"/>
            <a:ext cx="776609" cy="36715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0485ACAE-1830-E4EE-5C67-A7322A81F814}"/>
              </a:ext>
            </a:extLst>
          </p:cNvPr>
          <p:cNvSpPr/>
          <p:nvPr/>
        </p:nvSpPr>
        <p:spPr>
          <a:xfrm>
            <a:off x="6011627" y="5185092"/>
            <a:ext cx="1520776" cy="46806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📁 </a:t>
            </a:r>
            <a:r>
              <a:rPr lang="en-US" sz="1000" b="1" dirty="0"/>
              <a:t>Create and upload folder with current timestamp</a:t>
            </a:r>
          </a:p>
        </p:txBody>
      </p:sp>
      <p:pic>
        <p:nvPicPr>
          <p:cNvPr id="1026" name="Picture 2" descr="Microsoft Excel - Wikipedia">
            <a:extLst>
              <a:ext uri="{FF2B5EF4-FFF2-40B4-BE49-F238E27FC236}">
                <a16:creationId xmlns:a16="http://schemas.microsoft.com/office/drawing/2014/main" id="{C3C9EED6-817C-2955-6C40-6E34CB793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031" y="2143712"/>
            <a:ext cx="581155" cy="367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Rectangle 1024">
            <a:extLst>
              <a:ext uri="{FF2B5EF4-FFF2-40B4-BE49-F238E27FC236}">
                <a16:creationId xmlns:a16="http://schemas.microsoft.com/office/drawing/2014/main" id="{FB8A5891-11CF-FFD2-4ADD-970D09777081}"/>
              </a:ext>
            </a:extLst>
          </p:cNvPr>
          <p:cNvSpPr/>
          <p:nvPr/>
        </p:nvSpPr>
        <p:spPr>
          <a:xfrm>
            <a:off x="7476797" y="2143712"/>
            <a:ext cx="914400" cy="367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container</a:t>
            </a:r>
          </a:p>
        </p:txBody>
      </p: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98DC5D83-B840-2E89-43C0-CEE1C2CEE80E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7153006" y="2306309"/>
            <a:ext cx="323791" cy="20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Flowchart: Alternate Process 1034">
            <a:extLst>
              <a:ext uri="{FF2B5EF4-FFF2-40B4-BE49-F238E27FC236}">
                <a16:creationId xmlns:a16="http://schemas.microsoft.com/office/drawing/2014/main" id="{DFECEB3C-B8AA-E86E-57EF-C33A9C68F866}"/>
              </a:ext>
            </a:extLst>
          </p:cNvPr>
          <p:cNvSpPr/>
          <p:nvPr/>
        </p:nvSpPr>
        <p:spPr>
          <a:xfrm>
            <a:off x="8743808" y="2327290"/>
            <a:ext cx="2348428" cy="1101711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Password Encryption</a:t>
            </a:r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7E14EEFE-C536-B51B-3738-82CDBF04E8B8}"/>
              </a:ext>
            </a:extLst>
          </p:cNvPr>
          <p:cNvCxnSpPr>
            <a:cxnSpLocks/>
          </p:cNvCxnSpPr>
          <p:nvPr/>
        </p:nvCxnSpPr>
        <p:spPr>
          <a:xfrm>
            <a:off x="6096000" y="3047974"/>
            <a:ext cx="2563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815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0A8B47-4AB3-A67B-94E1-01E3BF9521C3}"/>
              </a:ext>
            </a:extLst>
          </p:cNvPr>
          <p:cNvSpPr txBox="1"/>
          <p:nvPr/>
        </p:nvSpPr>
        <p:spPr>
          <a:xfrm>
            <a:off x="443908" y="284616"/>
            <a:ext cx="1063521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Installation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SQLite3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Already included with Python (</a:t>
            </a:r>
            <a:r>
              <a:rPr lang="en-US" dirty="0">
                <a:latin typeface="Courier New" panose="02070309020205020404" pitchFamily="49" charset="0"/>
              </a:rPr>
              <a:t>import sqlite3</a:t>
            </a:r>
            <a:r>
              <a:rPr lang="en-U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installation needed unless you’re on a very old/stripped-down Python build.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SQLAlchemy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Must install separately: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</a:rPr>
              <a:t>sqlalchemy</a:t>
            </a:r>
            <a:endParaRPr lang="en-US" dirty="0">
              <a:latin typeface="Courier New" panose="020703090202050204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you’re going to use it with SQLite, that’s enough.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you want Postgres/MySQL later, you’ll also install their drivers: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Postgres → </a:t>
            </a:r>
            <a:r>
              <a:rPr lang="en-US" dirty="0">
                <a:latin typeface="Courier New" panose="02070309020205020404" pitchFamily="49" charset="0"/>
              </a:rPr>
              <a:t>pip install psycopg2-binary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MySQL → </a:t>
            </a:r>
            <a:r>
              <a:rPr lang="en-US" dirty="0">
                <a:latin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</a:rPr>
              <a:t>mysqlclient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</a:rPr>
              <a:t>pymysql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84D74-A3EE-3A94-B40C-84E549DE0475}"/>
              </a:ext>
            </a:extLst>
          </p:cNvPr>
          <p:cNvSpPr txBox="1"/>
          <p:nvPr/>
        </p:nvSpPr>
        <p:spPr>
          <a:xfrm>
            <a:off x="528969" y="4582656"/>
            <a:ext cx="10730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When to Choose Which?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SQLite3 (raw SQL)</a:t>
            </a:r>
            <a:r>
              <a:rPr lang="en-US" dirty="0"/>
              <a:t> → Fast, simple, fewer dependencies. Great for a </a:t>
            </a:r>
            <a:r>
              <a:rPr lang="en-US" b="1" dirty="0"/>
              <a:t>POC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SQLAlchemy</a:t>
            </a:r>
            <a:r>
              <a:rPr lang="en-US" dirty="0"/>
              <a:t> → Cleaner, scalable, DB-agnostic. Great for a </a:t>
            </a:r>
            <a:r>
              <a:rPr lang="en-US" b="1" dirty="0"/>
              <a:t>production app</a:t>
            </a:r>
            <a:r>
              <a:rPr lang="en-US" dirty="0"/>
              <a:t> where you might later move from SQLite → </a:t>
            </a:r>
            <a:r>
              <a:rPr lang="en-US" dirty="0" err="1"/>
              <a:t>Postgre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590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72549BBA-A7F2-2A07-8051-CF45DB5B0024}"/>
              </a:ext>
            </a:extLst>
          </p:cNvPr>
          <p:cNvSpPr/>
          <p:nvPr/>
        </p:nvSpPr>
        <p:spPr>
          <a:xfrm>
            <a:off x="191386" y="244549"/>
            <a:ext cx="11557591" cy="64114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610B8D-4923-C366-4B7E-123D9CD56303}"/>
              </a:ext>
            </a:extLst>
          </p:cNvPr>
          <p:cNvSpPr txBox="1"/>
          <p:nvPr/>
        </p:nvSpPr>
        <p:spPr>
          <a:xfrm>
            <a:off x="527992" y="5192601"/>
            <a:ext cx="5362446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/>
            </a:lvl1pPr>
          </a:lstStyle>
          <a:p>
            <a:endParaRPr lang="en-US" dirty="0"/>
          </a:p>
          <a:p>
            <a:r>
              <a:rPr lang="en-US" dirty="0"/>
              <a:t>Embed and Store (Vector DB)]</a:t>
            </a:r>
          </a:p>
          <a:p>
            <a:r>
              <a:rPr lang="en-US" dirty="0"/>
              <a:t>• Each chunk is embedded using embedding model</a:t>
            </a:r>
          </a:p>
          <a:p>
            <a:r>
              <a:rPr lang="en-US" dirty="0"/>
              <a:t>• Store in Vector DB (e.g., Chroma / </a:t>
            </a:r>
            <a:r>
              <a:rPr lang="en-US" dirty="0" err="1"/>
              <a:t>Qdrant</a:t>
            </a:r>
            <a:r>
              <a:rPr lang="en-US" dirty="0"/>
              <a:t> / Azure Cognitive Search)</a:t>
            </a:r>
          </a:p>
          <a:p>
            <a:r>
              <a:rPr lang="en-US" dirty="0"/>
              <a:t>• Metadata includes: heading, filename, timestamp, </a:t>
            </a:r>
            <a:r>
              <a:rPr lang="en-US" dirty="0" err="1"/>
              <a:t>user_id</a:t>
            </a:r>
            <a:endParaRPr lang="en-US" dirty="0"/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DB8A14-976B-F854-D124-0225744CA981}"/>
              </a:ext>
            </a:extLst>
          </p:cNvPr>
          <p:cNvSpPr txBox="1"/>
          <p:nvPr/>
        </p:nvSpPr>
        <p:spPr>
          <a:xfrm>
            <a:off x="7596899" y="4959149"/>
            <a:ext cx="2870883" cy="149271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/>
            </a:lvl1pPr>
          </a:lstStyle>
          <a:p>
            <a:r>
              <a:rPr lang="en-US" dirty="0"/>
              <a:t>[User can now chat via Chainlit using SK Planner]</a:t>
            </a:r>
          </a:p>
          <a:p>
            <a:r>
              <a:rPr lang="en-US" dirty="0"/>
              <a:t>• SK decides which skill to call:</a:t>
            </a:r>
          </a:p>
          <a:p>
            <a:r>
              <a:rPr lang="en-US" dirty="0"/>
              <a:t>   - retrieve answer from vector DB</a:t>
            </a:r>
          </a:p>
          <a:p>
            <a:r>
              <a:rPr lang="en-US" dirty="0"/>
              <a:t>   - fetch table data</a:t>
            </a:r>
          </a:p>
          <a:p>
            <a:r>
              <a:rPr lang="en-US" dirty="0"/>
              <a:t>• Chat becomes dynamic + multi-modal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521AA-E76D-8043-5767-CEBBC2BCD4A4}"/>
              </a:ext>
            </a:extLst>
          </p:cNvPr>
          <p:cNvSpPr txBox="1"/>
          <p:nvPr/>
        </p:nvSpPr>
        <p:spPr>
          <a:xfrm>
            <a:off x="527992" y="535309"/>
            <a:ext cx="2381693" cy="69249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dirty="0"/>
              <a:t> [PDF / Word]          </a:t>
            </a:r>
          </a:p>
          <a:p>
            <a:r>
              <a:rPr lang="en-US" sz="1300" dirty="0"/>
              <a:t>               • Input via Chainlit   </a:t>
            </a:r>
          </a:p>
          <a:p>
            <a:r>
              <a:rPr lang="en-US" sz="1300" dirty="0"/>
              <a:t>               • File type detection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36BD57-E19B-0341-DBA6-E276E004D205}"/>
              </a:ext>
            </a:extLst>
          </p:cNvPr>
          <p:cNvSpPr txBox="1"/>
          <p:nvPr/>
        </p:nvSpPr>
        <p:spPr>
          <a:xfrm>
            <a:off x="4434811" y="323530"/>
            <a:ext cx="3581074" cy="8925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/>
            </a:lvl1pPr>
          </a:lstStyle>
          <a:p>
            <a:r>
              <a:rPr lang="en-US" dirty="0"/>
              <a:t>[Chunk by Heading using Docling/Marker]</a:t>
            </a:r>
          </a:p>
          <a:p>
            <a:r>
              <a:rPr lang="en-US" dirty="0"/>
              <a:t>• SK custom skill wraps Docling/Marker parser</a:t>
            </a:r>
          </a:p>
          <a:p>
            <a:r>
              <a:rPr lang="en-US" dirty="0"/>
              <a:t>• Extract top-level sections (H1, H2, etc.)</a:t>
            </a:r>
          </a:p>
          <a:p>
            <a:r>
              <a:rPr lang="en-US" dirty="0"/>
              <a:t>• Maintain heading-hierarchy map: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094BC-5272-5585-FCCD-B2CA40D0D87B}"/>
              </a:ext>
            </a:extLst>
          </p:cNvPr>
          <p:cNvSpPr txBox="1"/>
          <p:nvPr/>
        </p:nvSpPr>
        <p:spPr>
          <a:xfrm>
            <a:off x="527992" y="1526899"/>
            <a:ext cx="4086538" cy="109260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/>
            </a:lvl1pPr>
          </a:lstStyle>
          <a:p>
            <a:r>
              <a:rPr lang="en-US" dirty="0"/>
              <a:t>[Check content length under each heading]</a:t>
            </a:r>
          </a:p>
          <a:p>
            <a:r>
              <a:rPr lang="en-US" dirty="0"/>
              <a:t>• For each heading’s content:</a:t>
            </a:r>
          </a:p>
          <a:p>
            <a:r>
              <a:rPr lang="en-US" dirty="0"/>
              <a:t>    - If &gt; vector model token limit (e.g., 1000–2000 tokens)</a:t>
            </a:r>
          </a:p>
          <a:p>
            <a:r>
              <a:rPr lang="en-US" dirty="0"/>
              <a:t>    - Requires further semantic chunking</a:t>
            </a:r>
          </a:p>
          <a:p>
            <a:r>
              <a:rPr lang="en-US" dirty="0"/>
              <a:t>• Decision point for deep chunking or table processing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DE3417-8711-5A84-347E-19BC047EE281}"/>
              </a:ext>
            </a:extLst>
          </p:cNvPr>
          <p:cNvSpPr txBox="1"/>
          <p:nvPr/>
        </p:nvSpPr>
        <p:spPr>
          <a:xfrm>
            <a:off x="540304" y="3008859"/>
            <a:ext cx="2369381" cy="49244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/>
            </a:lvl1pPr>
          </a:lstStyle>
          <a:p>
            <a:r>
              <a:rPr lang="en-US" dirty="0"/>
              <a:t>[Yes: Too Long]                        </a:t>
            </a:r>
          </a:p>
          <a:p>
            <a:r>
              <a:rPr lang="en-US" dirty="0"/>
              <a:t>• Requires more chunking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5164BC-D8D8-CAA1-5370-FC1181DAEFEF}"/>
              </a:ext>
            </a:extLst>
          </p:cNvPr>
          <p:cNvSpPr txBox="1"/>
          <p:nvPr/>
        </p:nvSpPr>
        <p:spPr>
          <a:xfrm>
            <a:off x="527992" y="3986381"/>
            <a:ext cx="2870883" cy="8925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/>
            </a:lvl1pPr>
          </a:lstStyle>
          <a:p>
            <a:r>
              <a:rPr lang="en-US" dirty="0"/>
              <a:t> Semantic Chunk Paragraph]                 </a:t>
            </a:r>
          </a:p>
          <a:p>
            <a:r>
              <a:rPr lang="en-US" dirty="0"/>
              <a:t>• Further splits paragraphs semantically            </a:t>
            </a:r>
          </a:p>
          <a:p>
            <a:r>
              <a:rPr lang="en-US" dirty="0"/>
              <a:t>• Uses language-based breaks                            </a:t>
            </a:r>
          </a:p>
          <a:p>
            <a:r>
              <a:rPr lang="en-US" dirty="0"/>
              <a:t>• Retains heading ref in metadata                     </a:t>
            </a: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3B44BC08-452B-383F-F40C-59C77F4F9E35}"/>
              </a:ext>
            </a:extLst>
          </p:cNvPr>
          <p:cNvCxnSpPr>
            <a:cxnSpLocks/>
          </p:cNvCxnSpPr>
          <p:nvPr/>
        </p:nvCxnSpPr>
        <p:spPr>
          <a:xfrm rot="5400000">
            <a:off x="1510652" y="2794323"/>
            <a:ext cx="403669" cy="12700"/>
          </a:xfrm>
          <a:prstGeom prst="curvedConnector3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2CCCDF96-AE7E-8533-0D59-0DE76FC46C1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5890438" y="5730949"/>
            <a:ext cx="1643289" cy="107983"/>
          </a:xfrm>
          <a:prstGeom prst="curvedConnector3">
            <a:avLst>
              <a:gd name="adj1" fmla="val 50000"/>
            </a:avLst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77290767-1A13-0046-F29A-5FB42763A3D3}"/>
              </a:ext>
            </a:extLst>
          </p:cNvPr>
          <p:cNvCxnSpPr>
            <a:cxnSpLocks/>
          </p:cNvCxnSpPr>
          <p:nvPr/>
        </p:nvCxnSpPr>
        <p:spPr>
          <a:xfrm rot="5400000">
            <a:off x="1356715" y="3715476"/>
            <a:ext cx="452119" cy="12700"/>
          </a:xfrm>
          <a:prstGeom prst="curvedConnector3">
            <a:avLst>
              <a:gd name="adj1" fmla="val 50000"/>
            </a:avLst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7EA53C59-E82D-15DF-E9D8-0515A391661F}"/>
              </a:ext>
            </a:extLst>
          </p:cNvPr>
          <p:cNvCxnSpPr>
            <a:cxnSpLocks/>
          </p:cNvCxnSpPr>
          <p:nvPr/>
        </p:nvCxnSpPr>
        <p:spPr>
          <a:xfrm rot="5400000">
            <a:off x="2244308" y="5035767"/>
            <a:ext cx="313665" cy="12700"/>
          </a:xfrm>
          <a:prstGeom prst="curvedConnector3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A519DA55-AE6D-4E10-23D1-BFF74040B91F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909685" y="881558"/>
            <a:ext cx="1525126" cy="12700"/>
          </a:xfrm>
          <a:prstGeom prst="curvedConnector3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CD0CDAD-248E-4D46-B147-2841E090D9FC}"/>
              </a:ext>
            </a:extLst>
          </p:cNvPr>
          <p:cNvSpPr txBox="1"/>
          <p:nvPr/>
        </p:nvSpPr>
        <p:spPr>
          <a:xfrm>
            <a:off x="9206549" y="496025"/>
            <a:ext cx="161739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highlight>
                  <a:srgbClr val="FFFF00"/>
                </a:highlight>
              </a:rPr>
              <a:t>PDF/text/Word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4DEB968B-A1BF-371A-A5B9-B8FC47DCBD84}"/>
              </a:ext>
            </a:extLst>
          </p:cNvPr>
          <p:cNvCxnSpPr/>
          <p:nvPr/>
        </p:nvCxnSpPr>
        <p:spPr>
          <a:xfrm rot="10800000" flipV="1">
            <a:off x="4614530" y="1294997"/>
            <a:ext cx="1364512" cy="659219"/>
          </a:xfrm>
          <a:prstGeom prst="curvedConnector3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08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3754D36-EE22-411C-0578-EE9398AEA94E}"/>
              </a:ext>
            </a:extLst>
          </p:cNvPr>
          <p:cNvGrpSpPr/>
          <p:nvPr/>
        </p:nvGrpSpPr>
        <p:grpSpPr>
          <a:xfrm>
            <a:off x="350874" y="329609"/>
            <a:ext cx="10515600" cy="6414510"/>
            <a:chOff x="148856" y="-16786"/>
            <a:chExt cx="10664456" cy="664534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3DDCA57-6F75-EC94-D64D-5601011502F6}"/>
                </a:ext>
              </a:extLst>
            </p:cNvPr>
            <p:cNvSpPr/>
            <p:nvPr/>
          </p:nvSpPr>
          <p:spPr>
            <a:xfrm>
              <a:off x="148856" y="-16786"/>
              <a:ext cx="10664456" cy="664534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37C3DA1-4791-8C28-1ED5-C60B61823B1D}"/>
                </a:ext>
              </a:extLst>
            </p:cNvPr>
            <p:cNvSpPr txBox="1"/>
            <p:nvPr/>
          </p:nvSpPr>
          <p:spPr>
            <a:xfrm>
              <a:off x="688878" y="118998"/>
              <a:ext cx="3840591" cy="10926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300"/>
              </a:lvl1pPr>
            </a:lstStyle>
            <a:p>
              <a:r>
                <a:rPr lang="en-US" dirty="0">
                  <a:highlight>
                    <a:srgbClr val="C0C0C0"/>
                  </a:highlight>
                </a:rPr>
                <a:t>CSV / Excel file</a:t>
              </a:r>
            </a:p>
            <a:p>
              <a:r>
                <a:rPr lang="en-US" dirty="0"/>
                <a:t>   • Triggered via Chainlit or UI</a:t>
              </a:r>
            </a:p>
            <a:p>
              <a:r>
                <a:rPr lang="en-US" dirty="0"/>
                <a:t>   • File passed to CSV Agent</a:t>
              </a:r>
            </a:p>
            <a:p>
              <a:r>
                <a:rPr lang="en-US" dirty="0"/>
                <a:t>      SK invokes a Skill:    </a:t>
              </a:r>
              <a:r>
                <a:rPr lang="en-US" dirty="0" err="1"/>
                <a:t>describe_table</a:t>
              </a:r>
              <a:r>
                <a:rPr lang="en-US" dirty="0"/>
                <a:t>(</a:t>
              </a:r>
              <a:r>
                <a:rPr lang="en-US" dirty="0" err="1"/>
                <a:t>file_path</a:t>
              </a:r>
              <a:r>
                <a:rPr lang="en-US" dirty="0"/>
                <a:t>)]</a:t>
              </a:r>
            </a:p>
            <a:p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D9F1CB-8503-4E84-DC82-1117BBD914D6}"/>
                </a:ext>
              </a:extLst>
            </p:cNvPr>
            <p:cNvSpPr txBox="1"/>
            <p:nvPr/>
          </p:nvSpPr>
          <p:spPr>
            <a:xfrm>
              <a:off x="688877" y="1412361"/>
              <a:ext cx="6371141" cy="14927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300"/>
              </a:lvl1pPr>
            </a:lstStyle>
            <a:p>
              <a:r>
                <a:rPr lang="en-US" dirty="0">
                  <a:highlight>
                    <a:srgbClr val="C0C0C0"/>
                  </a:highlight>
                </a:rPr>
                <a:t>CSV Agent extracts metadata</a:t>
              </a:r>
            </a:p>
            <a:p>
              <a:r>
                <a:rPr lang="en-US" dirty="0"/>
                <a:t>   • Example:</a:t>
              </a:r>
            </a:p>
            <a:p>
              <a:r>
                <a:rPr lang="en-US" dirty="0"/>
                <a:t>     [</a:t>
              </a:r>
            </a:p>
            <a:p>
              <a:r>
                <a:rPr lang="en-US" dirty="0"/>
                <a:t>       { "name": "</a:t>
              </a:r>
              <a:r>
                <a:rPr lang="en-US" dirty="0" err="1"/>
                <a:t>employee_data</a:t>
              </a:r>
              <a:r>
                <a:rPr lang="en-US" dirty="0"/>
                <a:t>", "description": "Employee info like name, dept, salary" },</a:t>
              </a:r>
            </a:p>
            <a:p>
              <a:r>
                <a:rPr lang="en-US" dirty="0"/>
                <a:t>       { "name": "attendance", "description": "Daily attendance logs" }</a:t>
              </a:r>
            </a:p>
            <a:p>
              <a:r>
                <a:rPr lang="en-US" dirty="0"/>
                <a:t>     ]</a:t>
              </a:r>
            </a:p>
            <a:p>
              <a:r>
                <a:rPr lang="en-US" dirty="0"/>
                <a:t>   • Metadata is stored in memory or temporary DB (Pandas Dataframe)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5DDAB2-8F9B-0ED3-3749-4D25D1D4FCD5}"/>
                </a:ext>
              </a:extLst>
            </p:cNvPr>
            <p:cNvSpPr txBox="1"/>
            <p:nvPr/>
          </p:nvSpPr>
          <p:spPr>
            <a:xfrm>
              <a:off x="693018" y="3305889"/>
              <a:ext cx="4863165" cy="14927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300"/>
              </a:lvl1pPr>
            </a:lstStyle>
            <a:p>
              <a:r>
                <a:rPr lang="en-US" dirty="0">
                  <a:highlight>
                    <a:srgbClr val="C0C0C0"/>
                  </a:highlight>
                </a:rPr>
                <a:t>[User sends a question]</a:t>
              </a:r>
            </a:p>
            <a:p>
              <a:r>
                <a:rPr lang="en-US" dirty="0"/>
                <a:t>   • Natural language input from user</a:t>
              </a:r>
            </a:p>
            <a:p>
              <a:endParaRPr lang="en-US" dirty="0"/>
            </a:p>
            <a:p>
              <a:r>
                <a:rPr lang="en-US" dirty="0"/>
                <a:t>[Orchestrator Agent receives question]</a:t>
              </a:r>
            </a:p>
            <a:p>
              <a:r>
                <a:rPr lang="en-US" dirty="0"/>
                <a:t>   • Reads metadata</a:t>
              </a:r>
            </a:p>
            <a:p>
              <a:r>
                <a:rPr lang="en-US" dirty="0"/>
                <a:t>   • Matches question intent with </a:t>
              </a:r>
              <a:r>
                <a:rPr lang="en-US" dirty="0" err="1"/>
                <a:t>metadata.description</a:t>
              </a:r>
              <a:endParaRPr lang="en-US" dirty="0"/>
            </a:p>
            <a:p>
              <a:r>
                <a:rPr lang="en-US" dirty="0"/>
                <a:t>   • Decides which table/sheet/file best fits the query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AB7C25-5DAA-844E-B255-A2BAAB16F663}"/>
                </a:ext>
              </a:extLst>
            </p:cNvPr>
            <p:cNvSpPr txBox="1"/>
            <p:nvPr/>
          </p:nvSpPr>
          <p:spPr>
            <a:xfrm>
              <a:off x="688878" y="5043602"/>
              <a:ext cx="3284622" cy="892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300"/>
              </a:lvl1pPr>
            </a:lstStyle>
            <a:p>
              <a:r>
                <a:rPr lang="en-US" dirty="0"/>
                <a:t>[</a:t>
              </a:r>
              <a:r>
                <a:rPr lang="en-US" dirty="0">
                  <a:highlight>
                    <a:srgbClr val="C0C0C0"/>
                  </a:highlight>
                </a:rPr>
                <a:t>CSV Agent is invoked with sheet context</a:t>
              </a:r>
              <a:r>
                <a:rPr lang="en-US" dirty="0"/>
                <a:t>]</a:t>
              </a:r>
            </a:p>
            <a:p>
              <a:r>
                <a:rPr lang="en-US" dirty="0"/>
                <a:t>   • CSV Agent opens the selected table</a:t>
              </a:r>
            </a:p>
            <a:p>
              <a:r>
                <a:rPr lang="en-US" dirty="0"/>
                <a:t>   • Performs SQL-like query or pandas filtering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51677D4-1E46-CB12-B1DC-F745F84B9D01}"/>
                </a:ext>
              </a:extLst>
            </p:cNvPr>
            <p:cNvSpPr txBox="1"/>
            <p:nvPr/>
          </p:nvSpPr>
          <p:spPr>
            <a:xfrm>
              <a:off x="6345454" y="4010708"/>
              <a:ext cx="3284622" cy="22929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300"/>
              </a:lvl1pPr>
            </a:lstStyle>
            <a:p>
              <a:r>
                <a:rPr lang="en-US" dirty="0">
                  <a:highlight>
                    <a:srgbClr val="C0C0C0"/>
                  </a:highlight>
                </a:rPr>
                <a:t>[CSV Agent fetches actual information]</a:t>
              </a:r>
            </a:p>
            <a:p>
              <a:r>
                <a:rPr lang="en-US" dirty="0">
                  <a:highlight>
                    <a:srgbClr val="C0C0C0"/>
                  </a:highlight>
                </a:rPr>
                <a:t>   </a:t>
              </a:r>
              <a:r>
                <a:rPr lang="en-US" dirty="0"/>
                <a:t>• Executes logic</a:t>
              </a:r>
            </a:p>
            <a:p>
              <a:r>
                <a:rPr lang="en-US" dirty="0"/>
                <a:t>   • Returns structured answer (JSON or text)</a:t>
              </a:r>
            </a:p>
            <a:p>
              <a:r>
                <a:rPr lang="en-US" dirty="0"/>
                <a:t>   </a:t>
              </a:r>
            </a:p>
            <a:p>
              <a:r>
                <a:rPr lang="en-US" dirty="0"/>
                <a:t>   </a:t>
              </a:r>
            </a:p>
            <a:p>
              <a:r>
                <a:rPr lang="en-US" dirty="0"/>
                <a:t>[Response sent back to user]</a:t>
              </a:r>
            </a:p>
            <a:p>
              <a:r>
                <a:rPr lang="en-US" dirty="0"/>
                <a:t>   • Via Chainlit UI</a:t>
              </a:r>
            </a:p>
            <a:p>
              <a:r>
                <a:rPr lang="en-US" dirty="0"/>
                <a:t>   • Optionally saves interaction in memory/log</a:t>
              </a:r>
            </a:p>
            <a:p>
              <a:r>
                <a:rPr lang="en-US" dirty="0"/>
                <a:t>   </a:t>
              </a:r>
            </a:p>
            <a:p>
              <a:r>
                <a:rPr lang="en-US" dirty="0"/>
                <a:t>   </a:t>
              </a:r>
            </a:p>
          </p:txBody>
        </p: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985B7AE7-85C4-E7C5-25E8-273DE72880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3500" y="4798605"/>
              <a:ext cx="2371954" cy="691273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77B0F48-4F7F-5031-E0A4-8A8B72CE4BBB}"/>
                </a:ext>
              </a:extLst>
            </p:cNvPr>
            <p:cNvSpPr txBox="1"/>
            <p:nvPr/>
          </p:nvSpPr>
          <p:spPr>
            <a:xfrm>
              <a:off x="9206550" y="496025"/>
              <a:ext cx="873115" cy="292388"/>
            </a:xfrm>
            <a:prstGeom prst="rect">
              <a:avLst/>
            </a:prstGeom>
            <a:noFill/>
            <a:ln>
              <a:solidFill>
                <a:schemeClr val="bg1">
                  <a:alpha val="98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300" b="1" dirty="0">
                  <a:highlight>
                    <a:srgbClr val="FFFF00"/>
                  </a:highlight>
                </a:rPr>
                <a:t>CSV/Excel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8208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0EAAF11-9D8B-28B5-B0B0-85F369C90246}"/>
              </a:ext>
            </a:extLst>
          </p:cNvPr>
          <p:cNvGrpSpPr/>
          <p:nvPr/>
        </p:nvGrpSpPr>
        <p:grpSpPr>
          <a:xfrm>
            <a:off x="350874" y="113881"/>
            <a:ext cx="10515600" cy="6630238"/>
            <a:chOff x="148856" y="-16786"/>
            <a:chExt cx="10664456" cy="664534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A729E91-187A-FDEF-4751-EB7E77C91298}"/>
                </a:ext>
              </a:extLst>
            </p:cNvPr>
            <p:cNvSpPr/>
            <p:nvPr/>
          </p:nvSpPr>
          <p:spPr>
            <a:xfrm>
              <a:off x="148856" y="-16786"/>
              <a:ext cx="10664456" cy="664534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127B56E-D64B-E676-7A90-A55F9DA99FF1}"/>
                </a:ext>
              </a:extLst>
            </p:cNvPr>
            <p:cNvSpPr txBox="1"/>
            <p:nvPr/>
          </p:nvSpPr>
          <p:spPr>
            <a:xfrm>
              <a:off x="688878" y="118998"/>
              <a:ext cx="3840591" cy="10926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300"/>
              </a:lvl1pPr>
            </a:lstStyle>
            <a:p>
              <a:r>
                <a:rPr lang="en-US" dirty="0">
                  <a:highlight>
                    <a:srgbClr val="C0C0C0"/>
                  </a:highlight>
                </a:rPr>
                <a:t>CSV / Excel file</a:t>
              </a:r>
            </a:p>
            <a:p>
              <a:r>
                <a:rPr lang="en-US" dirty="0"/>
                <a:t>   • Triggered via Chainlit or UI</a:t>
              </a:r>
            </a:p>
            <a:p>
              <a:r>
                <a:rPr lang="en-US" dirty="0"/>
                <a:t>   • File passed to CSV Agent</a:t>
              </a:r>
            </a:p>
            <a:p>
              <a:r>
                <a:rPr lang="en-US" dirty="0"/>
                <a:t>      SK invokes a Skill:    </a:t>
              </a:r>
              <a:r>
                <a:rPr lang="en-US" dirty="0" err="1"/>
                <a:t>describe_table</a:t>
              </a:r>
              <a:r>
                <a:rPr lang="en-US" dirty="0"/>
                <a:t>(</a:t>
              </a:r>
              <a:r>
                <a:rPr lang="en-US" dirty="0" err="1"/>
                <a:t>file_path</a:t>
              </a:r>
              <a:r>
                <a:rPr lang="en-US" dirty="0"/>
                <a:t>)]</a:t>
              </a:r>
            </a:p>
            <a:p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14DC64-803C-83F9-08F8-5EC48D1E1A51}"/>
                </a:ext>
              </a:extLst>
            </p:cNvPr>
            <p:cNvSpPr txBox="1"/>
            <p:nvPr/>
          </p:nvSpPr>
          <p:spPr>
            <a:xfrm>
              <a:off x="688877" y="1412361"/>
              <a:ext cx="6371141" cy="14927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300"/>
              </a:lvl1pPr>
            </a:lstStyle>
            <a:p>
              <a:r>
                <a:rPr lang="en-US" dirty="0">
                  <a:highlight>
                    <a:srgbClr val="C0C0C0"/>
                  </a:highlight>
                </a:rPr>
                <a:t>Pydantic extracts metadata</a:t>
              </a:r>
            </a:p>
            <a:p>
              <a:r>
                <a:rPr lang="en-US" dirty="0"/>
                <a:t>   • Example:</a:t>
              </a:r>
            </a:p>
            <a:p>
              <a:r>
                <a:rPr lang="en-US" dirty="0"/>
                <a:t>     [</a:t>
              </a:r>
            </a:p>
            <a:p>
              <a:r>
                <a:rPr lang="en-US" dirty="0"/>
                <a:t>       { "name": "</a:t>
              </a:r>
              <a:r>
                <a:rPr lang="en-US" dirty="0" err="1"/>
                <a:t>employee_data</a:t>
              </a:r>
              <a:r>
                <a:rPr lang="en-US" dirty="0"/>
                <a:t>", "description": "Employee info like name, dept, salary" },</a:t>
              </a:r>
            </a:p>
            <a:p>
              <a:r>
                <a:rPr lang="en-US" dirty="0"/>
                <a:t>       { "name": "attendance", "description": "Daily attendance logs" }</a:t>
              </a:r>
            </a:p>
            <a:p>
              <a:r>
                <a:rPr lang="en-US" dirty="0"/>
                <a:t>     ]</a:t>
              </a:r>
            </a:p>
            <a:p>
              <a:r>
                <a:rPr lang="en-US" dirty="0"/>
                <a:t>   • Metadata is stored in memory or temporary DB (Pandas Dataframe)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AF54B7-4FE2-7761-C2DA-8D0A25F13D1D}"/>
                </a:ext>
              </a:extLst>
            </p:cNvPr>
            <p:cNvSpPr txBox="1"/>
            <p:nvPr/>
          </p:nvSpPr>
          <p:spPr>
            <a:xfrm>
              <a:off x="693018" y="3305889"/>
              <a:ext cx="4863165" cy="14927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300"/>
              </a:lvl1pPr>
            </a:lstStyle>
            <a:p>
              <a:r>
                <a:rPr lang="en-US" dirty="0">
                  <a:highlight>
                    <a:srgbClr val="C0C0C0"/>
                  </a:highlight>
                </a:rPr>
                <a:t>[User sends a question]</a:t>
              </a:r>
            </a:p>
            <a:p>
              <a:r>
                <a:rPr lang="en-US" dirty="0"/>
                <a:t>   • Natural language input from user</a:t>
              </a:r>
            </a:p>
            <a:p>
              <a:endParaRPr lang="en-US" dirty="0"/>
            </a:p>
            <a:p>
              <a:r>
                <a:rPr lang="en-US" dirty="0"/>
                <a:t>[Orchestrator Agent receives question]</a:t>
              </a:r>
            </a:p>
            <a:p>
              <a:r>
                <a:rPr lang="en-US" dirty="0"/>
                <a:t>   • Reads metadata</a:t>
              </a:r>
            </a:p>
            <a:p>
              <a:r>
                <a:rPr lang="en-US" dirty="0"/>
                <a:t>   • Matches question intent with </a:t>
              </a:r>
              <a:r>
                <a:rPr lang="en-US" dirty="0" err="1"/>
                <a:t>metadata.description</a:t>
              </a:r>
              <a:endParaRPr lang="en-US" dirty="0"/>
            </a:p>
            <a:p>
              <a:r>
                <a:rPr lang="en-US" dirty="0"/>
                <a:t>   • Decides which table/sheet/file best fits the query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A93B58-5F50-5701-4F90-D3BA2616E361}"/>
                </a:ext>
              </a:extLst>
            </p:cNvPr>
            <p:cNvSpPr txBox="1"/>
            <p:nvPr/>
          </p:nvSpPr>
          <p:spPr>
            <a:xfrm>
              <a:off x="688878" y="5043602"/>
              <a:ext cx="3284622" cy="892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300"/>
              </a:lvl1pPr>
            </a:lstStyle>
            <a:p>
              <a:r>
                <a:rPr lang="en-US" dirty="0"/>
                <a:t>[</a:t>
              </a:r>
              <a:r>
                <a:rPr lang="en-US" dirty="0">
                  <a:highlight>
                    <a:srgbClr val="C0C0C0"/>
                  </a:highlight>
                </a:rPr>
                <a:t>CSV Agent is invoked with sheet context</a:t>
              </a:r>
              <a:r>
                <a:rPr lang="en-US" dirty="0"/>
                <a:t>]</a:t>
              </a:r>
            </a:p>
            <a:p>
              <a:r>
                <a:rPr lang="en-US" dirty="0"/>
                <a:t>   • CSV Agent opens the selected table</a:t>
              </a:r>
            </a:p>
            <a:p>
              <a:r>
                <a:rPr lang="en-US" dirty="0"/>
                <a:t>   • Performs SQL-like query or pandas filtering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539995-697D-412F-1AE7-9F9A3F9CFD06}"/>
                </a:ext>
              </a:extLst>
            </p:cNvPr>
            <p:cNvSpPr txBox="1"/>
            <p:nvPr/>
          </p:nvSpPr>
          <p:spPr>
            <a:xfrm>
              <a:off x="6345454" y="4010708"/>
              <a:ext cx="3284622" cy="22929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300"/>
              </a:lvl1pPr>
            </a:lstStyle>
            <a:p>
              <a:r>
                <a:rPr lang="en-US" dirty="0">
                  <a:highlight>
                    <a:srgbClr val="C0C0C0"/>
                  </a:highlight>
                </a:rPr>
                <a:t>[CSV Agent fetches actual information]</a:t>
              </a:r>
            </a:p>
            <a:p>
              <a:r>
                <a:rPr lang="en-US" dirty="0">
                  <a:highlight>
                    <a:srgbClr val="C0C0C0"/>
                  </a:highlight>
                </a:rPr>
                <a:t>   </a:t>
              </a:r>
              <a:r>
                <a:rPr lang="en-US" dirty="0"/>
                <a:t>• Executes logic</a:t>
              </a:r>
            </a:p>
            <a:p>
              <a:r>
                <a:rPr lang="en-US" dirty="0"/>
                <a:t>   • Returns structured answer (JSON or text)</a:t>
              </a:r>
            </a:p>
            <a:p>
              <a:r>
                <a:rPr lang="en-US" dirty="0"/>
                <a:t>   </a:t>
              </a:r>
            </a:p>
            <a:p>
              <a:r>
                <a:rPr lang="en-US" dirty="0"/>
                <a:t>   </a:t>
              </a:r>
            </a:p>
            <a:p>
              <a:r>
                <a:rPr lang="en-US" dirty="0"/>
                <a:t>[Response sent back to user]</a:t>
              </a:r>
            </a:p>
            <a:p>
              <a:r>
                <a:rPr lang="en-US" dirty="0"/>
                <a:t>   • Via Chainlit UI</a:t>
              </a:r>
            </a:p>
            <a:p>
              <a:r>
                <a:rPr lang="en-US" dirty="0"/>
                <a:t>   • Optionally saves interaction in memory/log</a:t>
              </a:r>
            </a:p>
            <a:p>
              <a:r>
                <a:rPr lang="en-US" dirty="0"/>
                <a:t>   </a:t>
              </a:r>
            </a:p>
            <a:p>
              <a:r>
                <a:rPr lang="en-US" dirty="0"/>
                <a:t>   </a:t>
              </a:r>
            </a:p>
          </p:txBody>
        </p: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55B2E8C3-81FB-4788-FBBD-66A655C45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3500" y="4798605"/>
              <a:ext cx="2371954" cy="691273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4AB1A-F2BB-223C-FF4E-3E7E1C3BFDCB}"/>
                </a:ext>
              </a:extLst>
            </p:cNvPr>
            <p:cNvSpPr txBox="1"/>
            <p:nvPr/>
          </p:nvSpPr>
          <p:spPr>
            <a:xfrm>
              <a:off x="9206550" y="496025"/>
              <a:ext cx="873115" cy="292388"/>
            </a:xfrm>
            <a:prstGeom prst="rect">
              <a:avLst/>
            </a:prstGeom>
            <a:noFill/>
            <a:ln>
              <a:solidFill>
                <a:schemeClr val="bg1">
                  <a:alpha val="98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300" b="1" dirty="0">
                  <a:highlight>
                    <a:srgbClr val="FFFF00"/>
                  </a:highlight>
                </a:rPr>
                <a:t>CSV/Excel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0304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0B0DA5-F72A-4E19-F56A-FB127682DC0E}"/>
              </a:ext>
            </a:extLst>
          </p:cNvPr>
          <p:cNvSpPr txBox="1"/>
          <p:nvPr/>
        </p:nvSpPr>
        <p:spPr>
          <a:xfrm>
            <a:off x="640168" y="428178"/>
            <a:ext cx="8912742" cy="6001643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800" dirty="0"/>
              <a:t>(START)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▼</a:t>
            </a:r>
          </a:p>
          <a:p>
            <a:r>
              <a:rPr lang="en-US" sz="800" dirty="0"/>
              <a:t>[User Logs In]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▼</a:t>
            </a:r>
          </a:p>
          <a:p>
            <a:r>
              <a:rPr lang="en-US" sz="800" dirty="0"/>
              <a:t>[Fetch All Sessions for </a:t>
            </a:r>
            <a:r>
              <a:rPr lang="en-US" sz="800" dirty="0" err="1"/>
              <a:t>user_id</a:t>
            </a:r>
            <a:r>
              <a:rPr lang="en-US" sz="800" dirty="0"/>
              <a:t> from SQLite]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▼</a:t>
            </a:r>
          </a:p>
          <a:p>
            <a:r>
              <a:rPr lang="en-US" sz="800" dirty="0"/>
              <a:t>[User Clicks on a Session → </a:t>
            </a:r>
            <a:r>
              <a:rPr lang="en-US" sz="800" dirty="0" err="1"/>
              <a:t>session_id</a:t>
            </a:r>
            <a:r>
              <a:rPr lang="en-US" sz="800" dirty="0"/>
              <a:t> = "abc123"]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▼</a:t>
            </a:r>
          </a:p>
          <a:p>
            <a:r>
              <a:rPr lang="en-US" sz="800" dirty="0"/>
              <a:t>[Initialize Workspace for </a:t>
            </a:r>
            <a:r>
              <a:rPr lang="en-US" sz="800" dirty="0" err="1"/>
              <a:t>session_id</a:t>
            </a:r>
            <a:r>
              <a:rPr lang="en-US" sz="800" dirty="0"/>
              <a:t> "abc123"]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▼</a:t>
            </a:r>
          </a:p>
          <a:p>
            <a:r>
              <a:rPr lang="en-US" sz="800" dirty="0"/>
              <a:t>[→ Fetch Stored Data Sources]</a:t>
            </a:r>
          </a:p>
          <a:p>
            <a:r>
              <a:rPr lang="en-US" sz="800" dirty="0"/>
              <a:t>   │</a:t>
            </a:r>
            <a:endParaRPr lang="en-US" sz="800" strike="sngStrike" dirty="0"/>
          </a:p>
          <a:p>
            <a:r>
              <a:rPr lang="en-US" sz="800" strike="sngStrike" dirty="0"/>
              <a:t>   |──► [Fetch PDF Chunks from Vector DB]</a:t>
            </a:r>
          </a:p>
          <a:p>
            <a:r>
              <a:rPr lang="en-US" sz="800" strike="sngStrike" dirty="0"/>
              <a:t>   │        └── query: where </a:t>
            </a:r>
            <a:r>
              <a:rPr lang="en-US" sz="800" strike="sngStrike" dirty="0" err="1"/>
              <a:t>session_id</a:t>
            </a:r>
            <a:r>
              <a:rPr lang="en-US" sz="800" strike="sngStrike" dirty="0"/>
              <a:t> = "abc123", filename LIKE *.pdf</a:t>
            </a:r>
          </a:p>
          <a:p>
            <a:r>
              <a:rPr lang="en-US" sz="800" strike="sngStrike" dirty="0"/>
              <a:t>   │        └── result: List of document chunks, headings, metadata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 └──► [Fetch CSV Profile Metadata]</a:t>
            </a:r>
          </a:p>
          <a:p>
            <a:r>
              <a:rPr lang="en-US" sz="800" dirty="0"/>
              <a:t>             ── </a:t>
            </a:r>
            <a:r>
              <a:rPr lang="en-US" sz="800" strike="sngStrike" dirty="0"/>
              <a:t>Option 1: From Vector DB (stored under special metadata)</a:t>
            </a:r>
          </a:p>
          <a:p>
            <a:r>
              <a:rPr lang="en-US" sz="800" dirty="0"/>
              <a:t>            └── Option 2: From SQLite Table `</a:t>
            </a:r>
            <a:r>
              <a:rPr lang="en-US" sz="800" dirty="0" err="1"/>
              <a:t>csv_profiles</a:t>
            </a:r>
            <a:r>
              <a:rPr lang="en-US" sz="800" dirty="0"/>
              <a:t>`</a:t>
            </a:r>
          </a:p>
          <a:p>
            <a:r>
              <a:rPr lang="en-US" sz="800" dirty="0"/>
              <a:t>                       where </a:t>
            </a:r>
            <a:r>
              <a:rPr lang="en-US" sz="800" dirty="0" err="1"/>
              <a:t>user_id</a:t>
            </a:r>
            <a:r>
              <a:rPr lang="en-US" sz="800" dirty="0"/>
              <a:t> = "</a:t>
            </a:r>
            <a:r>
              <a:rPr lang="en-US" sz="800" dirty="0" err="1"/>
              <a:t>deepankar</a:t>
            </a:r>
            <a:r>
              <a:rPr lang="en-US" sz="800" dirty="0"/>
              <a:t>" AND filename in (“filename.pdf”, "attendance.csv“)</a:t>
            </a:r>
          </a:p>
          <a:p>
            <a:endParaRPr lang="en-US" sz="800" dirty="0"/>
          </a:p>
          <a:p>
            <a:r>
              <a:rPr lang="en-US" sz="800" dirty="0"/>
              <a:t>  ▼</a:t>
            </a:r>
          </a:p>
          <a:p>
            <a:r>
              <a:rPr lang="en-US" sz="800" dirty="0"/>
              <a:t>[Store Retrieved Data in Memory for Session (not chunk content, just pointers)]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▼</a:t>
            </a:r>
          </a:p>
          <a:p>
            <a:r>
              <a:rPr lang="en-US" sz="800" dirty="0"/>
              <a:t>[User Asks a Question]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▼</a:t>
            </a:r>
          </a:p>
          <a:p>
            <a:r>
              <a:rPr lang="en-US" sz="800" dirty="0"/>
              <a:t>[LLM Router / SK Planner Decides Route]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 |──► If tabular logic detected → route to Table Agent using CSV Profile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 └──► Else → route to PDF Vector Search</a:t>
            </a:r>
          </a:p>
          <a:p>
            <a:r>
              <a:rPr lang="en-US" sz="800" dirty="0"/>
              <a:t>            └── query in </a:t>
            </a:r>
            <a:r>
              <a:rPr lang="en-US" sz="800" dirty="0" err="1"/>
              <a:t>vectorstore</a:t>
            </a:r>
            <a:r>
              <a:rPr lang="en-US" sz="800" dirty="0"/>
              <a:t> where </a:t>
            </a:r>
            <a:r>
              <a:rPr lang="en-US" sz="800" dirty="0" err="1"/>
              <a:t>session_id</a:t>
            </a:r>
            <a:r>
              <a:rPr lang="en-US" sz="800" dirty="0"/>
              <a:t> = "abc123" + similarity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▼</a:t>
            </a:r>
          </a:p>
          <a:p>
            <a:r>
              <a:rPr lang="en-US" sz="800" dirty="0"/>
              <a:t>[LLM Generates Answer based on Retrieved Info]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▼</a:t>
            </a:r>
          </a:p>
          <a:p>
            <a:r>
              <a:rPr lang="en-US" sz="800" dirty="0"/>
              <a:t>[Display Response in Chat UI]</a:t>
            </a:r>
          </a:p>
          <a:p>
            <a:r>
              <a:rPr lang="en-US" sz="800" dirty="0"/>
              <a:t>   │</a:t>
            </a:r>
          </a:p>
          <a:p>
            <a:r>
              <a:rPr lang="en-US" sz="800" dirty="0"/>
              <a:t>  ▼</a:t>
            </a:r>
          </a:p>
          <a:p>
            <a:r>
              <a:rPr lang="en-US" sz="800" dirty="0"/>
              <a:t>(END)</a:t>
            </a:r>
          </a:p>
        </p:txBody>
      </p:sp>
    </p:spTree>
    <p:extLst>
      <p:ext uri="{BB962C8B-B14F-4D97-AF65-F5344CB8AC3E}">
        <p14:creationId xmlns:p14="http://schemas.microsoft.com/office/powerpoint/2010/main" val="2331489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BDB99AB-D890-D1F6-F674-512F5B8D5B4D}"/>
              </a:ext>
            </a:extLst>
          </p:cNvPr>
          <p:cNvGrpSpPr/>
          <p:nvPr/>
        </p:nvGrpSpPr>
        <p:grpSpPr>
          <a:xfrm>
            <a:off x="192612" y="123521"/>
            <a:ext cx="4121540" cy="6463769"/>
            <a:chOff x="641023" y="94268"/>
            <a:chExt cx="4355183" cy="6463769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41107C65-150C-7890-44B8-E5CAA095DDBE}"/>
                </a:ext>
              </a:extLst>
            </p:cNvPr>
            <p:cNvSpPr/>
            <p:nvPr/>
          </p:nvSpPr>
          <p:spPr>
            <a:xfrm>
              <a:off x="641023" y="94268"/>
              <a:ext cx="4355183" cy="64637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594AFB0A-EBFE-6A58-C453-962CCBE0C2CF}"/>
                </a:ext>
              </a:extLst>
            </p:cNvPr>
            <p:cNvSpPr/>
            <p:nvPr/>
          </p:nvSpPr>
          <p:spPr>
            <a:xfrm>
              <a:off x="1754074" y="1629932"/>
              <a:ext cx="1252212" cy="7701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Chunk based on headings using docling/Marker</a:t>
              </a:r>
            </a:p>
          </p:txBody>
        </p: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F4C150EB-CB08-98E2-2EA7-D122D371D8D1}"/>
                </a:ext>
              </a:extLst>
            </p:cNvPr>
            <p:cNvCxnSpPr>
              <a:cxnSpLocks/>
            </p:cNvCxnSpPr>
            <p:nvPr/>
          </p:nvCxnSpPr>
          <p:spPr>
            <a:xfrm>
              <a:off x="2380180" y="936655"/>
              <a:ext cx="0" cy="6790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4771C296-6313-C055-18B9-B29005FAC78F}"/>
                </a:ext>
              </a:extLst>
            </p:cNvPr>
            <p:cNvGrpSpPr/>
            <p:nvPr/>
          </p:nvGrpSpPr>
          <p:grpSpPr>
            <a:xfrm>
              <a:off x="1599685" y="299963"/>
              <a:ext cx="1537410" cy="679010"/>
              <a:chOff x="1620569" y="1630924"/>
              <a:chExt cx="2163777" cy="67901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BC78E21-B7DC-5C1B-2FC7-7207337DDA84}"/>
                  </a:ext>
                </a:extLst>
              </p:cNvPr>
              <p:cNvSpPr/>
              <p:nvPr/>
            </p:nvSpPr>
            <p:spPr>
              <a:xfrm>
                <a:off x="1620569" y="1630924"/>
                <a:ext cx="2163777" cy="6790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D70073E2-B7FE-26D6-2A93-8C01838E7317}"/>
                  </a:ext>
                </a:extLst>
              </p:cNvPr>
              <p:cNvSpPr txBox="1"/>
              <p:nvPr/>
            </p:nvSpPr>
            <p:spPr>
              <a:xfrm>
                <a:off x="1729211" y="1729212"/>
                <a:ext cx="19283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User inputs PDF or word document</a:t>
                </a:r>
              </a:p>
            </p:txBody>
          </p:sp>
        </p:grpSp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F78397C7-62DB-597C-A91C-73C39202B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3976" y="1244851"/>
              <a:ext cx="820131" cy="37081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33D37991-FABF-F2EB-15BD-670E75B9B021}"/>
                </a:ext>
              </a:extLst>
            </p:cNvPr>
            <p:cNvGrpSpPr/>
            <p:nvPr/>
          </p:nvGrpSpPr>
          <p:grpSpPr>
            <a:xfrm>
              <a:off x="3645844" y="2003632"/>
              <a:ext cx="858263" cy="396461"/>
              <a:chOff x="3368426" y="2139885"/>
              <a:chExt cx="820131" cy="509046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13959246-4F6F-8392-704A-8A98B8849459}"/>
                  </a:ext>
                </a:extLst>
              </p:cNvPr>
              <p:cNvSpPr/>
              <p:nvPr/>
            </p:nvSpPr>
            <p:spPr>
              <a:xfrm>
                <a:off x="3368426" y="2139885"/>
                <a:ext cx="820131" cy="5090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48BCFA56-9D11-430E-A77A-401DD45658DE}"/>
                  </a:ext>
                </a:extLst>
              </p:cNvPr>
              <p:cNvSpPr txBox="1"/>
              <p:nvPr/>
            </p:nvSpPr>
            <p:spPr>
              <a:xfrm>
                <a:off x="3368426" y="2204296"/>
                <a:ext cx="8201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Marker</a:t>
                </a:r>
              </a:p>
            </p:txBody>
          </p:sp>
        </p:grpSp>
        <p:sp>
          <p:nvSpPr>
            <p:cNvPr id="180" name="Left Brace 179">
              <a:extLst>
                <a:ext uri="{FF2B5EF4-FFF2-40B4-BE49-F238E27FC236}">
                  <a16:creationId xmlns:a16="http://schemas.microsoft.com/office/drawing/2014/main" id="{F2AC9D10-1220-85A4-24BF-8149E6406C49}"/>
                </a:ext>
              </a:extLst>
            </p:cNvPr>
            <p:cNvSpPr/>
            <p:nvPr/>
          </p:nvSpPr>
          <p:spPr>
            <a:xfrm>
              <a:off x="3044418" y="1430258"/>
              <a:ext cx="601426" cy="770162"/>
            </a:xfrm>
            <a:prstGeom prst="leftBrace">
              <a:avLst>
                <a:gd name="adj1" fmla="val 0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1" name="Flowchart: Decision 180">
              <a:extLst>
                <a:ext uri="{FF2B5EF4-FFF2-40B4-BE49-F238E27FC236}">
                  <a16:creationId xmlns:a16="http://schemas.microsoft.com/office/drawing/2014/main" id="{B5C81ECE-862D-3BE6-FB19-F6156DE9BDC5}"/>
                </a:ext>
              </a:extLst>
            </p:cNvPr>
            <p:cNvSpPr/>
            <p:nvPr/>
          </p:nvSpPr>
          <p:spPr>
            <a:xfrm>
              <a:off x="1640299" y="2823329"/>
              <a:ext cx="1496796" cy="1314120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Does content under heading exceed</a:t>
              </a:r>
            </a:p>
          </p:txBody>
        </p: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B9A8F8BD-8E4D-2EC1-F84D-B1C3F1870E99}"/>
                </a:ext>
              </a:extLst>
            </p:cNvPr>
            <p:cNvCxnSpPr>
              <a:cxnSpLocks/>
            </p:cNvCxnSpPr>
            <p:nvPr/>
          </p:nvCxnSpPr>
          <p:spPr>
            <a:xfrm>
              <a:off x="2388697" y="4137449"/>
              <a:ext cx="0" cy="4345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DDFBE26B-96B5-509D-0391-A1534570D82C}"/>
                </a:ext>
              </a:extLst>
            </p:cNvPr>
            <p:cNvCxnSpPr>
              <a:stCxn id="175" idx="2"/>
            </p:cNvCxnSpPr>
            <p:nvPr/>
          </p:nvCxnSpPr>
          <p:spPr>
            <a:xfrm>
              <a:off x="2380180" y="2400094"/>
              <a:ext cx="0" cy="4204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DA6437BF-890B-8C4F-8131-D3B2054DA58A}"/>
                </a:ext>
              </a:extLst>
            </p:cNvPr>
            <p:cNvSpPr txBox="1"/>
            <p:nvPr/>
          </p:nvSpPr>
          <p:spPr>
            <a:xfrm>
              <a:off x="1640299" y="4182430"/>
              <a:ext cx="462099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yes</a:t>
              </a:r>
            </a:p>
          </p:txBody>
        </p:sp>
        <p:sp>
          <p:nvSpPr>
            <p:cNvPr id="185" name="Rectangle: Rounded Corners 184">
              <a:extLst>
                <a:ext uri="{FF2B5EF4-FFF2-40B4-BE49-F238E27FC236}">
                  <a16:creationId xmlns:a16="http://schemas.microsoft.com/office/drawing/2014/main" id="{781AA7F3-2F79-C62C-24D8-F8628623C3F0}"/>
                </a:ext>
              </a:extLst>
            </p:cNvPr>
            <p:cNvSpPr/>
            <p:nvPr/>
          </p:nvSpPr>
          <p:spPr>
            <a:xfrm>
              <a:off x="1678434" y="4572001"/>
              <a:ext cx="1327852" cy="79185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Semantically chunk that paragraph</a:t>
              </a:r>
            </a:p>
          </p:txBody>
        </p:sp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4DE53374-6424-8296-DA2E-C9339E79C94D}"/>
                </a:ext>
              </a:extLst>
            </p:cNvPr>
            <p:cNvSpPr/>
            <p:nvPr/>
          </p:nvSpPr>
          <p:spPr>
            <a:xfrm>
              <a:off x="1184607" y="5585879"/>
              <a:ext cx="2180762" cy="79185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Stire each heading and corresponding chunks in vector database</a:t>
              </a: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9086222C-71AA-337A-1F44-3C455E1920E4}"/>
                </a:ext>
              </a:extLst>
            </p:cNvPr>
            <p:cNvCxnSpPr>
              <a:cxnSpLocks/>
              <a:stCxn id="181" idx="3"/>
            </p:cNvCxnSpPr>
            <p:nvPr/>
          </p:nvCxnSpPr>
          <p:spPr>
            <a:xfrm>
              <a:off x="3137095" y="3480389"/>
              <a:ext cx="7467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: Elbow 187">
              <a:extLst>
                <a:ext uri="{FF2B5EF4-FFF2-40B4-BE49-F238E27FC236}">
                  <a16:creationId xmlns:a16="http://schemas.microsoft.com/office/drawing/2014/main" id="{8BA65487-BE1B-9B38-623D-2A35D51E771B}"/>
                </a:ext>
              </a:extLst>
            </p:cNvPr>
            <p:cNvCxnSpPr>
              <a:endCxn id="186" idx="3"/>
            </p:cNvCxnSpPr>
            <p:nvPr/>
          </p:nvCxnSpPr>
          <p:spPr>
            <a:xfrm rot="5400000">
              <a:off x="2388039" y="4457720"/>
              <a:ext cx="2501416" cy="54675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C4C91E3-A9FA-50C1-6998-E0015D7CF152}"/>
              </a:ext>
            </a:extLst>
          </p:cNvPr>
          <p:cNvSpPr txBox="1"/>
          <p:nvPr/>
        </p:nvSpPr>
        <p:spPr>
          <a:xfrm>
            <a:off x="5367491" y="2322756"/>
            <a:ext cx="5180934" cy="8925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300"/>
            </a:lvl1pPr>
          </a:lstStyle>
          <a:p>
            <a:r>
              <a:rPr lang="en-US" dirty="0"/>
              <a:t>[SK Memory Updated → chunk info, source heading, file ref]</a:t>
            </a:r>
          </a:p>
          <a:p>
            <a:r>
              <a:rPr lang="en-US" dirty="0"/>
              <a:t>• Semantic Kernel memory updated</a:t>
            </a:r>
          </a:p>
          <a:p>
            <a:r>
              <a:rPr lang="en-US" dirty="0"/>
              <a:t>• Could be volatile (session) or persistent (Cosmos DB, Redis)</a:t>
            </a:r>
          </a:p>
          <a:p>
            <a:r>
              <a:rPr lang="en-US" dirty="0"/>
              <a:t>• Helpful for future retrieval and context tracking</a:t>
            </a:r>
          </a:p>
        </p:txBody>
      </p:sp>
    </p:spTree>
    <p:extLst>
      <p:ext uri="{BB962C8B-B14F-4D97-AF65-F5344CB8AC3E}">
        <p14:creationId xmlns:p14="http://schemas.microsoft.com/office/powerpoint/2010/main" val="2421143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302DF3FD-A424-11E6-9E37-4C133E7E5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098" y="606995"/>
            <a:ext cx="939918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will be managed through a SQLite database for user sign-in.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Upon activation of the "Process Files" function, PDF files will undergo vectorization, while CSV data will be securely stored within a specified container.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Following this, a prompt will be presented to the user, enabling them to pose a question.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Semantic Kernel framework will subsequently decide which conversational agent to engage.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EC1274-9789-CE82-FDBB-626E95B4E2C5}"/>
              </a:ext>
            </a:extLst>
          </p:cNvPr>
          <p:cNvSpPr txBox="1"/>
          <p:nvPr/>
        </p:nvSpPr>
        <p:spPr>
          <a:xfrm>
            <a:off x="489098" y="214918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Docling → JSON → Embedding → Chroma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945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F3F3C5-C55B-5314-2BCA-591994143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39" y="1349486"/>
            <a:ext cx="11600121" cy="5349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C5116B-5D7E-FF82-4918-CD3A2B1BC29A}"/>
              </a:ext>
            </a:extLst>
          </p:cNvPr>
          <p:cNvSpPr txBox="1"/>
          <p:nvPr/>
        </p:nvSpPr>
        <p:spPr>
          <a:xfrm>
            <a:off x="3221665" y="361507"/>
            <a:ext cx="5550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RAG Anything</a:t>
            </a:r>
          </a:p>
        </p:txBody>
      </p:sp>
    </p:spTree>
    <p:extLst>
      <p:ext uri="{BB962C8B-B14F-4D97-AF65-F5344CB8AC3E}">
        <p14:creationId xmlns:p14="http://schemas.microsoft.com/office/powerpoint/2010/main" val="3966904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D87B81-BDBC-2D58-8C61-376A0CDB2813}"/>
              </a:ext>
            </a:extLst>
          </p:cNvPr>
          <p:cNvSpPr txBox="1"/>
          <p:nvPr/>
        </p:nvSpPr>
        <p:spPr>
          <a:xfrm>
            <a:off x="470490" y="1568946"/>
            <a:ext cx="6097772" cy="418576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🔹 1. Chunking in this architecture</a:t>
            </a:r>
          </a:p>
          <a:p>
            <a:pPr>
              <a:buNone/>
            </a:pPr>
            <a:r>
              <a:rPr lang="en-US" sz="1400" dirty="0"/>
              <a:t>Chunking here is not just plain "split text into 512 tokens" (as in simple RAG). It’s </a:t>
            </a:r>
            <a:r>
              <a:rPr lang="en-US" sz="1400" b="1" dirty="0"/>
              <a:t>multi-modal chunking</a:t>
            </a:r>
            <a:r>
              <a:rPr lang="en-US" sz="1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Structured Content Parsing (left block)</a:t>
            </a:r>
            <a:r>
              <a:rPr lang="en-U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Hierarchical Text Extraction</a:t>
            </a:r>
            <a:r>
              <a:rPr lang="en-US" sz="1400" dirty="0"/>
              <a:t> → Text is broken into chunks based on document structure (e.g., headings, paragraphs, sections).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Image Caption &amp; Metadata Extraction</a:t>
            </a:r>
            <a:r>
              <a:rPr lang="en-US" sz="1400" dirty="0"/>
              <a:t> → Each image is treated as a "chunk" with its own semantic meaning (caption + OCR text + metadata).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LaTeX Equation Recognition</a:t>
            </a:r>
            <a:r>
              <a:rPr lang="en-US" sz="1400" dirty="0"/>
              <a:t> → Equations are extracted as </a:t>
            </a:r>
            <a:r>
              <a:rPr lang="en-US" sz="1400" b="1" dirty="0"/>
              <a:t>separate chunks</a:t>
            </a:r>
            <a:r>
              <a:rPr lang="en-US" sz="1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Table Structure &amp; Content Parsing</a:t>
            </a:r>
            <a:r>
              <a:rPr lang="en-US" sz="1400" dirty="0"/>
              <a:t> → Each table is parsed into </a:t>
            </a:r>
            <a:r>
              <a:rPr lang="en-US" sz="1400" b="1" dirty="0"/>
              <a:t>row/column sub-chunks</a:t>
            </a:r>
            <a:r>
              <a:rPr lang="en-US" sz="1400" dirty="0"/>
              <a:t> (table schema + cell values).</a:t>
            </a:r>
          </a:p>
          <a:p>
            <a:pPr>
              <a:buNone/>
            </a:pPr>
            <a:r>
              <a:rPr lang="en-US" sz="1400" dirty="0"/>
              <a:t>So, instead of just linear text chunks, this creates </a:t>
            </a:r>
            <a:r>
              <a:rPr lang="en-US" sz="1400" b="1" dirty="0"/>
              <a:t>multi-modal structured chunks</a:t>
            </a:r>
            <a:r>
              <a:rPr lang="en-US" sz="1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Text Info chunks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Image Info chunks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Equation Info chunks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Table Info chunks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All these chunks are then passed downstream as "multi-modal instances".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D9A93-F7CF-3649-AF50-815E53115356}"/>
              </a:ext>
            </a:extLst>
          </p:cNvPr>
          <p:cNvSpPr txBox="1"/>
          <p:nvPr/>
        </p:nvSpPr>
        <p:spPr>
          <a:xfrm>
            <a:off x="1060597" y="617003"/>
            <a:ext cx="550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RAG ANYTHING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0B5FC-4677-ABAB-15BB-BCDB5AE388FF}"/>
              </a:ext>
            </a:extLst>
          </p:cNvPr>
          <p:cNvSpPr txBox="1"/>
          <p:nvPr/>
        </p:nvSpPr>
        <p:spPr>
          <a:xfrm>
            <a:off x="6891670" y="2028616"/>
            <a:ext cx="4829840" cy="28007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🔹 2. How Chunks Are Hierarchical</a:t>
            </a:r>
          </a:p>
          <a:p>
            <a:pPr>
              <a:buNone/>
            </a:pPr>
            <a:r>
              <a:rPr lang="en-US" sz="1600" dirty="0"/>
              <a:t>Instead of flat token windows, chunks form a </a:t>
            </a:r>
            <a:r>
              <a:rPr lang="en-US" sz="1600" b="1" dirty="0"/>
              <a:t>tree</a:t>
            </a:r>
            <a:r>
              <a:rPr lang="en-US" sz="16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Document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Section A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Subsection A.1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sz="1600" dirty="0"/>
              <a:t>Paragraph 1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sz="1600" dirty="0"/>
              <a:t>Paragraph 2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Subsection A.2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Section B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Table 1</a:t>
            </a:r>
          </a:p>
          <a:p>
            <a:pPr>
              <a:buNone/>
            </a:pPr>
            <a:r>
              <a:rPr lang="en-US" sz="1600" dirty="0"/>
              <a:t>This “tree” becomes your </a:t>
            </a:r>
            <a:r>
              <a:rPr lang="en-US" sz="1600" b="1" dirty="0"/>
              <a:t>Structured Content List (SCL)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1749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E5B2A00-C962-8C3D-C9BA-F970CC7D1C48}"/>
              </a:ext>
            </a:extLst>
          </p:cNvPr>
          <p:cNvSpPr txBox="1"/>
          <p:nvPr/>
        </p:nvSpPr>
        <p:spPr>
          <a:xfrm>
            <a:off x="146198" y="372991"/>
            <a:ext cx="4787309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Great point, Deepankar 👌 You’re asking the right question:</a:t>
            </a:r>
          </a:p>
          <a:p>
            <a:pPr>
              <a:buNone/>
            </a:pPr>
            <a:r>
              <a:rPr lang="en-US" sz="1400" dirty="0"/>
              <a:t>➡️ </a:t>
            </a:r>
            <a:r>
              <a:rPr lang="en-US" sz="1400" i="1" dirty="0"/>
              <a:t>What exactly is used for text chunking here?</a:t>
            </a:r>
            <a:br>
              <a:rPr lang="en-US" sz="1400" dirty="0"/>
            </a:br>
            <a:r>
              <a:rPr lang="en-US" sz="1400" dirty="0"/>
              <a:t>➡️ </a:t>
            </a:r>
            <a:r>
              <a:rPr lang="en-US" sz="1400" i="1" dirty="0"/>
              <a:t>What happens if we split paragraphs and lose semantics?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37FC9D-BD33-1B98-3523-1EBDDB679FDA}"/>
              </a:ext>
            </a:extLst>
          </p:cNvPr>
          <p:cNvSpPr txBox="1"/>
          <p:nvPr/>
        </p:nvSpPr>
        <p:spPr>
          <a:xfrm>
            <a:off x="146198" y="1422024"/>
            <a:ext cx="6097772" cy="24929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1. What is being used for text chunking here?</a:t>
            </a:r>
          </a:p>
          <a:p>
            <a:pPr>
              <a:buNone/>
            </a:pPr>
            <a:r>
              <a:rPr lang="en-US" sz="1200" dirty="0"/>
              <a:t>Looking at the diagram: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b="1" dirty="0"/>
              <a:t>“Hierarchical Text Extraction”</a:t>
            </a:r>
            <a:r>
              <a:rPr lang="en-US" sz="1200" dirty="0"/>
              <a:t> block is the chunking mechanism.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It does </a:t>
            </a:r>
            <a:r>
              <a:rPr lang="en-US" sz="1200" b="1" dirty="0"/>
              <a:t>not</a:t>
            </a:r>
            <a:r>
              <a:rPr lang="en-US" sz="1200" dirty="0"/>
              <a:t> just blindly split by tokens (like 512/1024 token chunks).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Instead, it preserves </a:t>
            </a:r>
            <a:r>
              <a:rPr lang="en-US" sz="1200" b="1" dirty="0"/>
              <a:t>document structure</a:t>
            </a:r>
            <a:r>
              <a:rPr lang="en-US" sz="1200" dirty="0"/>
              <a:t> → sections, headings, paragraphs, list items.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This is why they call it a </a:t>
            </a:r>
            <a:r>
              <a:rPr lang="en-US" sz="1200" b="1" dirty="0"/>
              <a:t>Structured Content List</a:t>
            </a:r>
            <a:r>
              <a:rPr lang="en-US" sz="1200" dirty="0"/>
              <a:t> (SCL).</a:t>
            </a:r>
          </a:p>
          <a:p>
            <a:pPr>
              <a:buNone/>
            </a:pPr>
            <a:r>
              <a:rPr lang="en-US" sz="1200" dirty="0"/>
              <a:t>So chunking here = </a:t>
            </a:r>
            <a:r>
              <a:rPr lang="en-US" sz="1200" b="1" dirty="0"/>
              <a:t>structure-aware</a:t>
            </a:r>
            <a:r>
              <a:rPr lang="en-US" sz="1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Each heading + paragraph = one chunk.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Lists, captions, footnotes, references → kept as individual chunks.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Equations, tables, and images are extracted separately but linked back to their surrounding paragraph.</a:t>
            </a:r>
          </a:p>
          <a:p>
            <a:pPr>
              <a:buNone/>
            </a:pPr>
            <a:r>
              <a:rPr lang="en-US" sz="1200" dirty="0"/>
              <a:t>This is different from a flat sliding-window tokenizer split.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896967-1AC5-90C5-F3E8-AB787A59B559}"/>
              </a:ext>
            </a:extLst>
          </p:cNvPr>
          <p:cNvSpPr txBox="1"/>
          <p:nvPr/>
        </p:nvSpPr>
        <p:spPr>
          <a:xfrm>
            <a:off x="6096000" y="2868098"/>
            <a:ext cx="5949802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2. What if a paragraph is broken → semantic meaning loss?</a:t>
            </a:r>
          </a:p>
          <a:p>
            <a:pPr>
              <a:buNone/>
            </a:pPr>
            <a:r>
              <a:rPr lang="en-US" sz="1200" dirty="0"/>
              <a:t>Yes, if you split text naively in the middle of a sentence, you lose context. That’s why this system avoids </a:t>
            </a:r>
            <a:r>
              <a:rPr lang="en-US" sz="1200" b="1" dirty="0"/>
              <a:t>raw token-based chunking</a:t>
            </a:r>
            <a:r>
              <a:rPr lang="en-US" sz="1200" dirty="0"/>
              <a:t> at first.</a:t>
            </a:r>
          </a:p>
          <a:p>
            <a:pPr>
              <a:buNone/>
            </a:pPr>
            <a:r>
              <a:rPr lang="en-US" sz="1200" dirty="0"/>
              <a:t>Here’s how it deals with it: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Hierarchical Parsing (first layer)</a:t>
            </a:r>
            <a:endParaRPr lang="en-US" sz="1200" dirty="0"/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Keeps natural boundaries (e.g., by paragraph, heading).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This ensures semantic meaning isn’t broken at source.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Knowledge Grounding (second layer)</a:t>
            </a:r>
            <a:endParaRPr lang="en-US" sz="1200" dirty="0"/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Even if a chunk is incomplete, </a:t>
            </a:r>
            <a:r>
              <a:rPr lang="en-US" sz="1200" b="1" dirty="0"/>
              <a:t>entities and relations</a:t>
            </a:r>
            <a:r>
              <a:rPr lang="en-US" sz="1200" dirty="0"/>
              <a:t> are extracted.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These are then connected in the </a:t>
            </a:r>
            <a:r>
              <a:rPr lang="en-US" sz="1200" b="1" dirty="0"/>
              <a:t>knowledge graph</a:t>
            </a:r>
            <a:r>
              <a:rPr lang="en-US" sz="1200" dirty="0"/>
              <a:t>, so semantics are preserved across chunks.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Example: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 dirty="0"/>
              <a:t>Chunk 1: “Plumber fixes …”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 dirty="0"/>
              <a:t>Chunk 2: “… water leakage in pipelines.”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 dirty="0"/>
              <a:t>Even if broken, the KG links </a:t>
            </a:r>
            <a:r>
              <a:rPr lang="en-US" sz="1200" i="1" dirty="0"/>
              <a:t>Plumber → fixes → water leakage</a:t>
            </a:r>
            <a:r>
              <a:rPr lang="en-US" sz="12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Vector Embeddings (backup layer)</a:t>
            </a:r>
            <a:endParaRPr lang="en-US" sz="1200" dirty="0"/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Each chunk is also embedded. During retrieval, semantically close chunks are </a:t>
            </a:r>
            <a:r>
              <a:rPr lang="en-US" sz="1200" b="1" dirty="0"/>
              <a:t>pulled together</a:t>
            </a:r>
            <a:r>
              <a:rPr lang="en-US" sz="1200" dirty="0"/>
              <a:t> even if they were split.</a:t>
            </a:r>
          </a:p>
        </p:txBody>
      </p:sp>
    </p:spTree>
    <p:extLst>
      <p:ext uri="{BB962C8B-B14F-4D97-AF65-F5344CB8AC3E}">
        <p14:creationId xmlns:p14="http://schemas.microsoft.com/office/powerpoint/2010/main" val="141602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ACDA2D-ACCA-0F0B-BC38-96E61A026F0D}"/>
              </a:ext>
            </a:extLst>
          </p:cNvPr>
          <p:cNvSpPr txBox="1"/>
          <p:nvPr/>
        </p:nvSpPr>
        <p:spPr>
          <a:xfrm>
            <a:off x="987056" y="3429000"/>
            <a:ext cx="8572500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What happens if a paragraph &gt; embedding model limit?</a:t>
            </a:r>
          </a:p>
          <a:p>
            <a:pPr>
              <a:buNone/>
            </a:pPr>
            <a:r>
              <a:rPr lang="en-US" dirty="0"/>
              <a:t>This is where </a:t>
            </a:r>
            <a:r>
              <a:rPr lang="en-US" b="1" dirty="0"/>
              <a:t>embedding strategy</a:t>
            </a:r>
            <a:r>
              <a:rPr lang="en-US" dirty="0"/>
              <a:t> matters: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If paragraph length &lt; model limit</a:t>
            </a:r>
            <a:r>
              <a:rPr lang="en-US" dirty="0"/>
              <a:t> → embed directly.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If paragraph length &gt; model limit</a:t>
            </a:r>
            <a:r>
              <a:rPr lang="en-US" dirty="0"/>
              <a:t> →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Sentence-level split</a:t>
            </a:r>
            <a:r>
              <a:rPr lang="en-US" dirty="0"/>
              <a:t> (use NLP sentence segmentation).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Chunk by tokens with overlap</a:t>
            </a:r>
            <a:r>
              <a:rPr lang="en-US" dirty="0"/>
              <a:t> (sliding window: e.g., 300 tokens per chunk with 50 overlap).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chunk gets its </a:t>
            </a:r>
            <a:r>
              <a:rPr lang="en-US" b="1" dirty="0"/>
              <a:t>own embedding vector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Then during retrieval: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Similar chunks are pulled together.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LLM can re-stitch them back into coherent context.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BEFD1-3EA2-14BE-8D7A-28842BB16FA7}"/>
              </a:ext>
            </a:extLst>
          </p:cNvPr>
          <p:cNvSpPr txBox="1"/>
          <p:nvPr/>
        </p:nvSpPr>
        <p:spPr>
          <a:xfrm>
            <a:off x="987056" y="289679"/>
            <a:ext cx="7921256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What is it using for chunking?</a:t>
            </a:r>
          </a:p>
          <a:p>
            <a:pPr>
              <a:buNone/>
            </a:pPr>
            <a:r>
              <a:rPr lang="en-US" dirty="0"/>
              <a:t>From the diagram: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“Hierarchical Text Extraction”</a:t>
            </a:r>
            <a:r>
              <a:rPr lang="en-US" dirty="0"/>
              <a:t> → means chunking is </a:t>
            </a:r>
            <a:r>
              <a:rPr lang="en-US" b="1" dirty="0"/>
              <a:t>structure-aware</a:t>
            </a:r>
            <a:r>
              <a:rPr lang="en-US" dirty="0"/>
              <a:t> (paragraphs, headings, tables, figures).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once extracted, these text chunks still have to be </a:t>
            </a:r>
            <a:r>
              <a:rPr lang="en-US" b="1" dirty="0"/>
              <a:t>embedded</a:t>
            </a:r>
            <a:r>
              <a:rPr lang="en-US" dirty="0"/>
              <a:t> → and embedding models have a </a:t>
            </a:r>
            <a:r>
              <a:rPr lang="en-US" b="1" dirty="0"/>
              <a:t>token limit</a:t>
            </a:r>
            <a:r>
              <a:rPr lang="en-US" dirty="0"/>
              <a:t> (e.g., 512 or 1024 tokens).</a:t>
            </a:r>
          </a:p>
          <a:p>
            <a:pPr>
              <a:buNone/>
            </a:pPr>
            <a:r>
              <a:rPr lang="en-US" dirty="0"/>
              <a:t>👉 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First layer</a:t>
            </a:r>
            <a:r>
              <a:rPr lang="en-US" dirty="0"/>
              <a:t>: structural parsing (keeps semantic units like paragraphs intact).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Second layer</a:t>
            </a:r>
            <a:r>
              <a:rPr lang="en-US" dirty="0"/>
              <a:t>: long paragraphs are </a:t>
            </a:r>
            <a:r>
              <a:rPr lang="en-US" b="1" dirty="0"/>
              <a:t>further split</a:t>
            </a:r>
            <a:r>
              <a:rPr lang="en-US" dirty="0"/>
              <a:t> using sliding window or semantic-aware chunking (like sentence-BERT splitting on sentence boundaries).</a:t>
            </a:r>
          </a:p>
          <a:p>
            <a:pPr>
              <a:buNone/>
            </a:pPr>
            <a:r>
              <a:rPr lang="en-US" dirty="0"/>
              <a:t>This hybrid approach ensures you don’t break mid-sentence if avoidable.</a:t>
            </a:r>
          </a:p>
        </p:txBody>
      </p:sp>
    </p:spTree>
    <p:extLst>
      <p:ext uri="{BB962C8B-B14F-4D97-AF65-F5344CB8AC3E}">
        <p14:creationId xmlns:p14="http://schemas.microsoft.com/office/powerpoint/2010/main" val="1770915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6CFE6C90-09CE-90EA-8197-6A03070DC01C}"/>
              </a:ext>
            </a:extLst>
          </p:cNvPr>
          <p:cNvSpPr txBox="1"/>
          <p:nvPr/>
        </p:nvSpPr>
        <p:spPr>
          <a:xfrm>
            <a:off x="273787" y="17152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Hierarchical Chunking Really Works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8BF713-640A-731B-C7C2-A75BF0B30101}"/>
              </a:ext>
            </a:extLst>
          </p:cNvPr>
          <p:cNvSpPr txBox="1"/>
          <p:nvPr/>
        </p:nvSpPr>
        <p:spPr>
          <a:xfrm>
            <a:off x="273787" y="725524"/>
            <a:ext cx="11220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Rule 1: Paragraphs are the atomic unit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b="1" dirty="0"/>
              <a:t>paragraph</a:t>
            </a:r>
            <a:r>
              <a:rPr lang="en-US" dirty="0"/>
              <a:t> is normally treated as </a:t>
            </a:r>
            <a:r>
              <a:rPr lang="en-US" b="1" dirty="0"/>
              <a:t>one chunk</a:t>
            </a:r>
            <a:r>
              <a:rPr lang="en-US" dirty="0"/>
              <a:t>, as long as it’s within embedding token limit (e.g., 512–1024 tokens).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0A00CC-A159-6909-86AA-25B6A1301724}"/>
              </a:ext>
            </a:extLst>
          </p:cNvPr>
          <p:cNvSpPr txBox="1"/>
          <p:nvPr/>
        </p:nvSpPr>
        <p:spPr>
          <a:xfrm>
            <a:off x="273787" y="1458938"/>
            <a:ext cx="11453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a </a:t>
            </a:r>
            <a:r>
              <a:rPr lang="en-US" b="1" dirty="0"/>
              <a:t>paragraph &gt; embedding limit</a:t>
            </a:r>
            <a:r>
              <a:rPr lang="en-US" dirty="0"/>
              <a:t> → it gets split into smaller overlapping chunks (by sentences or token windows).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3693C0-3EA9-9CAB-A929-AC4B41E496BB}"/>
              </a:ext>
            </a:extLst>
          </p:cNvPr>
          <p:cNvSpPr txBox="1"/>
          <p:nvPr/>
        </p:nvSpPr>
        <p:spPr>
          <a:xfrm>
            <a:off x="273788" y="2659268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Rule 2: </a:t>
            </a:r>
            <a:r>
              <a:rPr lang="en-US" b="1" dirty="0"/>
              <a:t>Headings are attached as metadata (and sometimes prepended)</a:t>
            </a:r>
            <a:endParaRPr lang="en-US" dirty="0"/>
          </a:p>
        </p:txBody>
      </p:sp>
      <p:sp>
        <p:nvSpPr>
          <p:cNvPr id="46" name="Rectangle 34">
            <a:extLst>
              <a:ext uri="{FF2B5EF4-FFF2-40B4-BE49-F238E27FC236}">
                <a16:creationId xmlns:a16="http://schemas.microsoft.com/office/drawing/2014/main" id="{09C4B003-9711-F7EB-0FDF-966D0789E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787" y="3305599"/>
            <a:ext cx="10699012" cy="1477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Section/heading text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 standalone chunk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(usually too short), but it is: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as metadata → e.g.,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"section": "Section A.1"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Sometimes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prepended to the paragraph 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"Section A.1: [Paragraph text]"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preserve context.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retrieval knows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section a paragraph belongs 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C110A1-7DCA-534C-7174-418A17534196}"/>
              </a:ext>
            </a:extLst>
          </p:cNvPr>
          <p:cNvSpPr txBox="1"/>
          <p:nvPr/>
        </p:nvSpPr>
        <p:spPr>
          <a:xfrm>
            <a:off x="326949" y="5054678"/>
            <a:ext cx="10592687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Rule 3: Sections are not normally separate chunks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don’t embed an </a:t>
            </a:r>
            <a:r>
              <a:rPr lang="en-US" i="1" dirty="0"/>
              <a:t>entire section (with multiple paragraphs)</a:t>
            </a:r>
            <a:r>
              <a:rPr lang="en-US" dirty="0"/>
              <a:t> as a single chunk → too long.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Instead, you keep </a:t>
            </a:r>
            <a:r>
              <a:rPr lang="en-US" b="1" dirty="0">
                <a:highlight>
                  <a:srgbClr val="FFFF00"/>
                </a:highlight>
              </a:rPr>
              <a:t>paragraph chunks</a:t>
            </a:r>
            <a:r>
              <a:rPr lang="en-US" dirty="0">
                <a:highlight>
                  <a:srgbClr val="FFFF00"/>
                </a:highlight>
              </a:rPr>
              <a:t> and rely on metadata to group them 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→ some hybrid systems (like </a:t>
            </a:r>
            <a:r>
              <a:rPr lang="en-US" dirty="0" err="1"/>
              <a:t>LlamaIndex</a:t>
            </a:r>
            <a:r>
              <a:rPr lang="en-US" dirty="0"/>
              <a:t>) do store a </a:t>
            </a:r>
            <a:r>
              <a:rPr lang="en-US" b="1" dirty="0"/>
              <a:t>parent embedding</a:t>
            </a:r>
            <a:r>
              <a:rPr lang="en-US" dirty="0"/>
              <a:t> (section-level summary). This is optional.</a:t>
            </a:r>
          </a:p>
        </p:txBody>
      </p:sp>
    </p:spTree>
    <p:extLst>
      <p:ext uri="{BB962C8B-B14F-4D97-AF65-F5344CB8AC3E}">
        <p14:creationId xmlns:p14="http://schemas.microsoft.com/office/powerpoint/2010/main" val="1783966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92107B-2087-F842-00DD-9ACC08FF6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234" y="1490396"/>
            <a:ext cx="6237766" cy="3877207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F82687-A88C-5EF9-0DA8-75B0312D0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838284"/>
              </p:ext>
            </p:extLst>
          </p:nvPr>
        </p:nvGraphicFramePr>
        <p:xfrm>
          <a:off x="49619" y="1373764"/>
          <a:ext cx="5904615" cy="4369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8372">
                  <a:extLst>
                    <a:ext uri="{9D8B030D-6E8A-4147-A177-3AD203B41FA5}">
                      <a16:colId xmlns:a16="http://schemas.microsoft.com/office/drawing/2014/main" val="1060995695"/>
                    </a:ext>
                  </a:extLst>
                </a:gridCol>
                <a:gridCol w="605703">
                  <a:extLst>
                    <a:ext uri="{9D8B030D-6E8A-4147-A177-3AD203B41FA5}">
                      <a16:colId xmlns:a16="http://schemas.microsoft.com/office/drawing/2014/main" val="889622049"/>
                    </a:ext>
                  </a:extLst>
                </a:gridCol>
                <a:gridCol w="1097952">
                  <a:extLst>
                    <a:ext uri="{9D8B030D-6E8A-4147-A177-3AD203B41FA5}">
                      <a16:colId xmlns:a16="http://schemas.microsoft.com/office/drawing/2014/main" val="2674298579"/>
                    </a:ext>
                  </a:extLst>
                </a:gridCol>
                <a:gridCol w="1712588">
                  <a:extLst>
                    <a:ext uri="{9D8B030D-6E8A-4147-A177-3AD203B41FA5}">
                      <a16:colId xmlns:a16="http://schemas.microsoft.com/office/drawing/2014/main" val="272684738"/>
                    </a:ext>
                  </a:extLst>
                </a:gridCol>
              </a:tblGrid>
              <a:tr h="6175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Model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Max Tokens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Embedding Dimension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Notes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96329066"/>
                  </a:ext>
                </a:extLst>
              </a:tr>
              <a:tr h="4561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text-embedding-ada-002 (OpenAI)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8,191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1,536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Legacy model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06263333"/>
                  </a:ext>
                </a:extLst>
              </a:tr>
              <a:tr h="4561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text-embedding-3-small (OpenAI)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8,191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1,536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Newer, more efficient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41919067"/>
                  </a:ext>
                </a:extLst>
              </a:tr>
              <a:tr h="690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text-embedding-3-large (OpenAI)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8,191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3,072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Highest performance, larger vectors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27590808"/>
                  </a:ext>
                </a:extLst>
              </a:tr>
              <a:tr h="7484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Jina Embeddings 2 (open-source)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8,192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—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Matches Ada performance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87488298"/>
                  </a:ext>
                </a:extLst>
              </a:tr>
              <a:tr h="7835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jina-embeddings-v3 (open-source)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8,192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1,024 (default)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Multilingual, flexible embedding dimensions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0412834"/>
                  </a:ext>
                </a:extLst>
              </a:tr>
              <a:tr h="6175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nomic-embed-text-v1 (open-source)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8,192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—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Long context model, best-in-class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30348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CE2FB55-A555-0F50-EA13-E19C545EDD56}"/>
              </a:ext>
            </a:extLst>
          </p:cNvPr>
          <p:cNvSpPr txBox="1"/>
          <p:nvPr/>
        </p:nvSpPr>
        <p:spPr>
          <a:xfrm>
            <a:off x="414671" y="382772"/>
            <a:ext cx="2062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token limits</a:t>
            </a:r>
          </a:p>
        </p:txBody>
      </p:sp>
    </p:spTree>
    <p:extLst>
      <p:ext uri="{BB962C8B-B14F-4D97-AF65-F5344CB8AC3E}">
        <p14:creationId xmlns:p14="http://schemas.microsoft.com/office/powerpoint/2010/main" val="2435230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6383401-BDD5-0CDF-DE95-D758D2138B9C}"/>
              </a:ext>
            </a:extLst>
          </p:cNvPr>
          <p:cNvGrpSpPr/>
          <p:nvPr/>
        </p:nvGrpSpPr>
        <p:grpSpPr>
          <a:xfrm>
            <a:off x="1063020" y="1485772"/>
            <a:ext cx="5601958" cy="566057"/>
            <a:chOff x="377371" y="1037771"/>
            <a:chExt cx="5601958" cy="566057"/>
          </a:xfrm>
        </p:grpSpPr>
        <p:sp>
          <p:nvSpPr>
            <p:cNvPr id="13" name="Rounded Rectangle 1">
              <a:extLst>
                <a:ext uri="{FF2B5EF4-FFF2-40B4-BE49-F238E27FC236}">
                  <a16:creationId xmlns:a16="http://schemas.microsoft.com/office/drawing/2014/main" id="{0CBA89CD-0C2D-B285-D488-B503190C030E}"/>
                </a:ext>
              </a:extLst>
            </p:cNvPr>
            <p:cNvSpPr/>
            <p:nvPr/>
          </p:nvSpPr>
          <p:spPr>
            <a:xfrm>
              <a:off x="1080660" y="1037771"/>
              <a:ext cx="4898669" cy="566057"/>
            </a:xfrm>
            <a:custGeom>
              <a:avLst/>
              <a:gdLst/>
              <a:ahLst/>
              <a:cxnLst/>
              <a:rect l="0" t="0" r="0" b="0"/>
              <a:pathLst>
                <a:path w="4898669" h="566057">
                  <a:moveTo>
                    <a:pt x="4881214" y="87301"/>
                  </a:moveTo>
                  <a:lnTo>
                    <a:pt x="4695838" y="527568"/>
                  </a:lnTo>
                  <a:cubicBezTo>
                    <a:pt x="4686018" y="550891"/>
                    <a:pt x="4663178" y="566057"/>
                    <a:pt x="4637872" y="566057"/>
                  </a:cubicBezTo>
                  <a:lnTo>
                    <a:pt x="4634944" y="566057"/>
                  </a:lnTo>
                  <a:lnTo>
                    <a:pt x="4634944" y="0"/>
                  </a:lnTo>
                  <a:lnTo>
                    <a:pt x="4823248" y="0"/>
                  </a:lnTo>
                  <a:cubicBezTo>
                    <a:pt x="4868229" y="0"/>
                    <a:pt x="4898669" y="45845"/>
                    <a:pt x="4881214" y="87301"/>
                  </a:cubicBezTo>
                  <a:close/>
                  <a:moveTo>
                    <a:pt x="263725" y="566057"/>
                  </a:moveTo>
                  <a:lnTo>
                    <a:pt x="263725" y="0"/>
                  </a:lnTo>
                  <a:lnTo>
                    <a:pt x="4634944" y="0"/>
                  </a:lnTo>
                  <a:lnTo>
                    <a:pt x="4634944" y="566057"/>
                  </a:lnTo>
                  <a:close/>
                  <a:moveTo>
                    <a:pt x="202830" y="527568"/>
                  </a:move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63725" y="0"/>
                  </a:lnTo>
                  <a:lnTo>
                    <a:pt x="263725" y="566057"/>
                  </a:lnTo>
                  <a:lnTo>
                    <a:pt x="260797" y="566057"/>
                  </a:lnTo>
                  <a:cubicBezTo>
                    <a:pt x="235491" y="566057"/>
                    <a:pt x="212651" y="550891"/>
                    <a:pt x="202830" y="527568"/>
                  </a:cubicBezTo>
                  <a:close/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2">
              <a:extLst>
                <a:ext uri="{FF2B5EF4-FFF2-40B4-BE49-F238E27FC236}">
                  <a16:creationId xmlns:a16="http://schemas.microsoft.com/office/drawing/2014/main" id="{7DAAC8D4-FA14-039C-6099-695613630488}"/>
                </a:ext>
              </a:extLst>
            </p:cNvPr>
            <p:cNvSpPr/>
            <p:nvPr/>
          </p:nvSpPr>
          <p:spPr>
            <a:xfrm>
              <a:off x="377371" y="1037771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3">
              <a:extLst>
                <a:ext uri="{FF2B5EF4-FFF2-40B4-BE49-F238E27FC236}">
                  <a16:creationId xmlns:a16="http://schemas.microsoft.com/office/drawing/2014/main" id="{5D205532-1D35-B906-5467-D7F74BA3BC94}"/>
                </a:ext>
              </a:extLst>
            </p:cNvPr>
            <p:cNvSpPr/>
            <p:nvPr/>
          </p:nvSpPr>
          <p:spPr>
            <a:xfrm>
              <a:off x="1080660" y="1037771"/>
              <a:ext cx="4898669" cy="566057"/>
            </a:xfrm>
            <a:custGeom>
              <a:avLst/>
              <a:gdLst/>
              <a:ahLst/>
              <a:cxnLst/>
              <a:rect l="0" t="0" r="0" b="0"/>
              <a:pathLst>
                <a:path w="4898669" h="566057">
                  <a:moveTo>
                    <a:pt x="4634944" y="0"/>
                  </a:moveTo>
                  <a:lnTo>
                    <a:pt x="4823248" y="0"/>
                  </a:lnTo>
                  <a:cubicBezTo>
                    <a:pt x="4868229" y="0"/>
                    <a:pt x="4898669" y="45845"/>
                    <a:pt x="4881214" y="87301"/>
                  </a:cubicBezTo>
                  <a:lnTo>
                    <a:pt x="4695838" y="527568"/>
                  </a:lnTo>
                  <a:cubicBezTo>
                    <a:pt x="4686018" y="550891"/>
                    <a:pt x="4663178" y="566057"/>
                    <a:pt x="4637872" y="566057"/>
                  </a:cubicBezTo>
                  <a:lnTo>
                    <a:pt x="4634944" y="566057"/>
                  </a:lnTo>
                  <a:moveTo>
                    <a:pt x="4634944" y="566057"/>
                  </a:moveTo>
                  <a:lnTo>
                    <a:pt x="263725" y="566057"/>
                  </a:lnTo>
                  <a:moveTo>
                    <a:pt x="263725" y="0"/>
                  </a:moveTo>
                  <a:lnTo>
                    <a:pt x="4634944" y="0"/>
                  </a:lnTo>
                  <a:moveTo>
                    <a:pt x="263725" y="566057"/>
                  </a:moveTo>
                  <a:lnTo>
                    <a:pt x="260797" y="566057"/>
                  </a:lnTo>
                  <a:cubicBezTo>
                    <a:pt x="235491" y="566057"/>
                    <a:pt x="212651" y="550891"/>
                    <a:pt x="202830" y="527568"/>
                  </a:cubicBez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63725" y="0"/>
                  </a:ln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4">
              <a:extLst>
                <a:ext uri="{FF2B5EF4-FFF2-40B4-BE49-F238E27FC236}">
                  <a16:creationId xmlns:a16="http://schemas.microsoft.com/office/drawing/2014/main" id="{15BAB34F-6D0B-FF42-D5BA-469610F79FC9}"/>
                </a:ext>
              </a:extLst>
            </p:cNvPr>
            <p:cNvSpPr/>
            <p:nvPr/>
          </p:nvSpPr>
          <p:spPr>
            <a:xfrm>
              <a:off x="377371" y="1037771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555AE8D-F213-83C0-C0A4-DB312D38BD0A}"/>
              </a:ext>
            </a:extLst>
          </p:cNvPr>
          <p:cNvGrpSpPr/>
          <p:nvPr/>
        </p:nvGrpSpPr>
        <p:grpSpPr>
          <a:xfrm>
            <a:off x="1385963" y="2308678"/>
            <a:ext cx="4973006" cy="566057"/>
            <a:chOff x="691847" y="1792514"/>
            <a:chExt cx="4973006" cy="566057"/>
          </a:xfrm>
        </p:grpSpPr>
        <p:sp>
          <p:nvSpPr>
            <p:cNvPr id="18" name="Rounded Rectangle 6">
              <a:extLst>
                <a:ext uri="{FF2B5EF4-FFF2-40B4-BE49-F238E27FC236}">
                  <a16:creationId xmlns:a16="http://schemas.microsoft.com/office/drawing/2014/main" id="{2B7F0BB8-9D64-2A09-1B2B-397D19AB5292}"/>
                </a:ext>
              </a:extLst>
            </p:cNvPr>
            <p:cNvSpPr/>
            <p:nvPr/>
          </p:nvSpPr>
          <p:spPr>
            <a:xfrm>
              <a:off x="1395136" y="1792514"/>
              <a:ext cx="4269717" cy="566057"/>
            </a:xfrm>
            <a:custGeom>
              <a:avLst/>
              <a:gdLst/>
              <a:ahLst/>
              <a:cxnLst/>
              <a:rect l="0" t="0" r="0" b="0"/>
              <a:pathLst>
                <a:path w="4269717" h="566057">
                  <a:moveTo>
                    <a:pt x="4252261" y="87301"/>
                  </a:moveTo>
                  <a:lnTo>
                    <a:pt x="4066886" y="527568"/>
                  </a:lnTo>
                  <a:cubicBezTo>
                    <a:pt x="4057066" y="550891"/>
                    <a:pt x="4034225" y="566057"/>
                    <a:pt x="4008919" y="566057"/>
                  </a:cubicBezTo>
                  <a:lnTo>
                    <a:pt x="4005992" y="566057"/>
                  </a:lnTo>
                  <a:lnTo>
                    <a:pt x="4005992" y="0"/>
                  </a:lnTo>
                  <a:lnTo>
                    <a:pt x="4194295" y="0"/>
                  </a:lnTo>
                  <a:cubicBezTo>
                    <a:pt x="4239276" y="0"/>
                    <a:pt x="4269717" y="45845"/>
                    <a:pt x="4252261" y="87301"/>
                  </a:cubicBezTo>
                  <a:close/>
                  <a:moveTo>
                    <a:pt x="263725" y="566057"/>
                  </a:moveTo>
                  <a:lnTo>
                    <a:pt x="263725" y="0"/>
                  </a:lnTo>
                  <a:lnTo>
                    <a:pt x="4005992" y="0"/>
                  </a:lnTo>
                  <a:lnTo>
                    <a:pt x="4005992" y="566057"/>
                  </a:lnTo>
                  <a:close/>
                  <a:moveTo>
                    <a:pt x="202830" y="527568"/>
                  </a:move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63725" y="0"/>
                  </a:lnTo>
                  <a:lnTo>
                    <a:pt x="263725" y="566057"/>
                  </a:lnTo>
                  <a:lnTo>
                    <a:pt x="260797" y="566057"/>
                  </a:lnTo>
                  <a:cubicBezTo>
                    <a:pt x="235491" y="566057"/>
                    <a:pt x="212651" y="550891"/>
                    <a:pt x="202830" y="527568"/>
                  </a:cubicBezTo>
                  <a:close/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7">
              <a:extLst>
                <a:ext uri="{FF2B5EF4-FFF2-40B4-BE49-F238E27FC236}">
                  <a16:creationId xmlns:a16="http://schemas.microsoft.com/office/drawing/2014/main" id="{9F33B908-37A3-5C19-A4E6-A8E5822D1524}"/>
                </a:ext>
              </a:extLst>
            </p:cNvPr>
            <p:cNvSpPr/>
            <p:nvPr/>
          </p:nvSpPr>
          <p:spPr>
            <a:xfrm>
              <a:off x="691847" y="1792514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8">
              <a:extLst>
                <a:ext uri="{FF2B5EF4-FFF2-40B4-BE49-F238E27FC236}">
                  <a16:creationId xmlns:a16="http://schemas.microsoft.com/office/drawing/2014/main" id="{0C707A06-B548-A85E-0F07-2772740A123C}"/>
                </a:ext>
              </a:extLst>
            </p:cNvPr>
            <p:cNvSpPr/>
            <p:nvPr/>
          </p:nvSpPr>
          <p:spPr>
            <a:xfrm>
              <a:off x="1395136" y="1792514"/>
              <a:ext cx="4269717" cy="566057"/>
            </a:xfrm>
            <a:custGeom>
              <a:avLst/>
              <a:gdLst/>
              <a:ahLst/>
              <a:cxnLst/>
              <a:rect l="0" t="0" r="0" b="0"/>
              <a:pathLst>
                <a:path w="4269717" h="566057">
                  <a:moveTo>
                    <a:pt x="4005992" y="0"/>
                  </a:moveTo>
                  <a:lnTo>
                    <a:pt x="4194295" y="0"/>
                  </a:lnTo>
                  <a:cubicBezTo>
                    <a:pt x="4239276" y="0"/>
                    <a:pt x="4269717" y="45845"/>
                    <a:pt x="4252261" y="87301"/>
                  </a:cubicBezTo>
                  <a:lnTo>
                    <a:pt x="4066886" y="527568"/>
                  </a:lnTo>
                  <a:cubicBezTo>
                    <a:pt x="4057066" y="550891"/>
                    <a:pt x="4034225" y="566057"/>
                    <a:pt x="4008919" y="566057"/>
                  </a:cubicBezTo>
                  <a:lnTo>
                    <a:pt x="4005992" y="566057"/>
                  </a:lnTo>
                  <a:moveTo>
                    <a:pt x="263725" y="566057"/>
                  </a:moveTo>
                  <a:lnTo>
                    <a:pt x="4005992" y="566057"/>
                  </a:lnTo>
                  <a:moveTo>
                    <a:pt x="4005992" y="0"/>
                  </a:moveTo>
                  <a:lnTo>
                    <a:pt x="263725" y="0"/>
                  </a:lnTo>
                  <a:moveTo>
                    <a:pt x="263725" y="566057"/>
                  </a:moveTo>
                  <a:lnTo>
                    <a:pt x="260797" y="566057"/>
                  </a:lnTo>
                  <a:cubicBezTo>
                    <a:pt x="235491" y="566057"/>
                    <a:pt x="212651" y="550891"/>
                    <a:pt x="202830" y="527568"/>
                  </a:cubicBez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63725" y="0"/>
                  </a:ln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9">
              <a:extLst>
                <a:ext uri="{FF2B5EF4-FFF2-40B4-BE49-F238E27FC236}">
                  <a16:creationId xmlns:a16="http://schemas.microsoft.com/office/drawing/2014/main" id="{8A40EA1E-A6EF-FF72-D534-2AAA3766544C}"/>
                </a:ext>
              </a:extLst>
            </p:cNvPr>
            <p:cNvSpPr/>
            <p:nvPr/>
          </p:nvSpPr>
          <p:spPr>
            <a:xfrm>
              <a:off x="691847" y="1792514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F0FA2CE-9C1E-9A08-A080-4A334759E0F8}"/>
              </a:ext>
            </a:extLst>
          </p:cNvPr>
          <p:cNvGrpSpPr/>
          <p:nvPr/>
        </p:nvGrpSpPr>
        <p:grpSpPr>
          <a:xfrm>
            <a:off x="1700439" y="3063421"/>
            <a:ext cx="4344054" cy="566057"/>
            <a:chOff x="1006323" y="2547257"/>
            <a:chExt cx="4344054" cy="566057"/>
          </a:xfrm>
        </p:grpSpPr>
        <p:sp>
          <p:nvSpPr>
            <p:cNvPr id="23" name="Rounded Rectangle 11">
              <a:extLst>
                <a:ext uri="{FF2B5EF4-FFF2-40B4-BE49-F238E27FC236}">
                  <a16:creationId xmlns:a16="http://schemas.microsoft.com/office/drawing/2014/main" id="{2B840A2C-8987-6201-6F6E-68DADF51E3D2}"/>
                </a:ext>
              </a:extLst>
            </p:cNvPr>
            <p:cNvSpPr/>
            <p:nvPr/>
          </p:nvSpPr>
          <p:spPr>
            <a:xfrm>
              <a:off x="1709612" y="2547257"/>
              <a:ext cx="3640765" cy="566057"/>
            </a:xfrm>
            <a:custGeom>
              <a:avLst/>
              <a:gdLst/>
              <a:ahLst/>
              <a:cxnLst/>
              <a:rect l="0" t="0" r="0" b="0"/>
              <a:pathLst>
                <a:path w="3640765" h="566057">
                  <a:moveTo>
                    <a:pt x="3623309" y="87301"/>
                  </a:moveTo>
                  <a:lnTo>
                    <a:pt x="3437934" y="527568"/>
                  </a:lnTo>
                  <a:cubicBezTo>
                    <a:pt x="3428113" y="550891"/>
                    <a:pt x="3405273" y="566057"/>
                    <a:pt x="3379967" y="566057"/>
                  </a:cubicBezTo>
                  <a:lnTo>
                    <a:pt x="3377039" y="566057"/>
                  </a:lnTo>
                  <a:lnTo>
                    <a:pt x="3377039" y="0"/>
                  </a:lnTo>
                  <a:lnTo>
                    <a:pt x="3565343" y="0"/>
                  </a:lnTo>
                  <a:cubicBezTo>
                    <a:pt x="3610324" y="0"/>
                    <a:pt x="3640765" y="45845"/>
                    <a:pt x="3623309" y="87301"/>
                  </a:cubicBezTo>
                  <a:close/>
                  <a:moveTo>
                    <a:pt x="263725" y="566057"/>
                  </a:moveTo>
                  <a:lnTo>
                    <a:pt x="263725" y="0"/>
                  </a:lnTo>
                  <a:lnTo>
                    <a:pt x="3377039" y="0"/>
                  </a:lnTo>
                  <a:lnTo>
                    <a:pt x="3377039" y="566057"/>
                  </a:lnTo>
                  <a:close/>
                  <a:moveTo>
                    <a:pt x="202830" y="527568"/>
                  </a:move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63725" y="0"/>
                  </a:lnTo>
                  <a:lnTo>
                    <a:pt x="263725" y="566057"/>
                  </a:lnTo>
                  <a:lnTo>
                    <a:pt x="260797" y="566057"/>
                  </a:lnTo>
                  <a:cubicBezTo>
                    <a:pt x="235491" y="566057"/>
                    <a:pt x="212651" y="550891"/>
                    <a:pt x="202830" y="527568"/>
                  </a:cubicBezTo>
                  <a:close/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Rounded Rectangle 12">
              <a:extLst>
                <a:ext uri="{FF2B5EF4-FFF2-40B4-BE49-F238E27FC236}">
                  <a16:creationId xmlns:a16="http://schemas.microsoft.com/office/drawing/2014/main" id="{BCB34DCF-7A54-33DF-6284-500734DDD678}"/>
                </a:ext>
              </a:extLst>
            </p:cNvPr>
            <p:cNvSpPr/>
            <p:nvPr/>
          </p:nvSpPr>
          <p:spPr>
            <a:xfrm>
              <a:off x="1006323" y="2547257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13">
              <a:extLst>
                <a:ext uri="{FF2B5EF4-FFF2-40B4-BE49-F238E27FC236}">
                  <a16:creationId xmlns:a16="http://schemas.microsoft.com/office/drawing/2014/main" id="{2BD24729-F561-F01A-6054-F702E096012D}"/>
                </a:ext>
              </a:extLst>
            </p:cNvPr>
            <p:cNvSpPr/>
            <p:nvPr/>
          </p:nvSpPr>
          <p:spPr>
            <a:xfrm>
              <a:off x="1709612" y="2547257"/>
              <a:ext cx="3640765" cy="566057"/>
            </a:xfrm>
            <a:custGeom>
              <a:avLst/>
              <a:gdLst/>
              <a:ahLst/>
              <a:cxnLst/>
              <a:rect l="0" t="0" r="0" b="0"/>
              <a:pathLst>
                <a:path w="3640765" h="566057">
                  <a:moveTo>
                    <a:pt x="3377039" y="0"/>
                  </a:moveTo>
                  <a:lnTo>
                    <a:pt x="3565343" y="0"/>
                  </a:lnTo>
                  <a:cubicBezTo>
                    <a:pt x="3610324" y="0"/>
                    <a:pt x="3640765" y="45845"/>
                    <a:pt x="3623309" y="87301"/>
                  </a:cubicBezTo>
                  <a:lnTo>
                    <a:pt x="3437934" y="527568"/>
                  </a:lnTo>
                  <a:cubicBezTo>
                    <a:pt x="3428113" y="550891"/>
                    <a:pt x="3405273" y="566057"/>
                    <a:pt x="3379967" y="566057"/>
                  </a:cubicBezTo>
                  <a:lnTo>
                    <a:pt x="3377039" y="566057"/>
                  </a:lnTo>
                  <a:moveTo>
                    <a:pt x="263725" y="566057"/>
                  </a:moveTo>
                  <a:lnTo>
                    <a:pt x="3377039" y="566057"/>
                  </a:lnTo>
                  <a:moveTo>
                    <a:pt x="263725" y="0"/>
                  </a:moveTo>
                  <a:lnTo>
                    <a:pt x="3377039" y="0"/>
                  </a:lnTo>
                  <a:moveTo>
                    <a:pt x="263725" y="566057"/>
                  </a:moveTo>
                  <a:lnTo>
                    <a:pt x="260797" y="566057"/>
                  </a:lnTo>
                  <a:cubicBezTo>
                    <a:pt x="235491" y="566057"/>
                    <a:pt x="212651" y="550891"/>
                    <a:pt x="202830" y="527568"/>
                  </a:cubicBez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63725" y="0"/>
                  </a:ln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14">
              <a:extLst>
                <a:ext uri="{FF2B5EF4-FFF2-40B4-BE49-F238E27FC236}">
                  <a16:creationId xmlns:a16="http://schemas.microsoft.com/office/drawing/2014/main" id="{BA7B6027-5136-9075-6F58-4C2B97D75988}"/>
                </a:ext>
              </a:extLst>
            </p:cNvPr>
            <p:cNvSpPr/>
            <p:nvPr/>
          </p:nvSpPr>
          <p:spPr>
            <a:xfrm>
              <a:off x="1006323" y="2547257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8839A31-3E2F-ED35-B934-60C1FE3FA908}"/>
              </a:ext>
            </a:extLst>
          </p:cNvPr>
          <p:cNvGrpSpPr/>
          <p:nvPr/>
        </p:nvGrpSpPr>
        <p:grpSpPr>
          <a:xfrm>
            <a:off x="2014915" y="3818164"/>
            <a:ext cx="3708481" cy="566057"/>
            <a:chOff x="1320799" y="3302000"/>
            <a:chExt cx="3708481" cy="566057"/>
          </a:xfrm>
        </p:grpSpPr>
        <p:sp>
          <p:nvSpPr>
            <p:cNvPr id="28" name="Rounded Rectangle 16">
              <a:extLst>
                <a:ext uri="{FF2B5EF4-FFF2-40B4-BE49-F238E27FC236}">
                  <a16:creationId xmlns:a16="http://schemas.microsoft.com/office/drawing/2014/main" id="{4E1D1A5B-2A2B-0C89-0AF1-EAFF1B13C733}"/>
                </a:ext>
              </a:extLst>
            </p:cNvPr>
            <p:cNvSpPr/>
            <p:nvPr/>
          </p:nvSpPr>
          <p:spPr>
            <a:xfrm>
              <a:off x="2024079" y="3302000"/>
              <a:ext cx="3005201" cy="566057"/>
            </a:xfrm>
            <a:custGeom>
              <a:avLst/>
              <a:gdLst/>
              <a:ahLst/>
              <a:cxnLst/>
              <a:rect l="0" t="0" r="0" b="0"/>
              <a:pathLst>
                <a:path w="3005201" h="566057">
                  <a:moveTo>
                    <a:pt x="2748096" y="566057"/>
                  </a:moveTo>
                  <a:lnTo>
                    <a:pt x="2748096" y="0"/>
                  </a:lnTo>
                  <a:lnTo>
                    <a:pt x="2929779" y="0"/>
                  </a:lnTo>
                  <a:cubicBezTo>
                    <a:pt x="2974760" y="0"/>
                    <a:pt x="3005201" y="45845"/>
                    <a:pt x="2987746" y="87302"/>
                  </a:cubicBezTo>
                  <a:lnTo>
                    <a:pt x="2800937" y="530971"/>
                  </a:lnTo>
                  <a:cubicBezTo>
                    <a:pt x="2791985" y="552231"/>
                    <a:pt x="2771164" y="566057"/>
                    <a:pt x="2748096" y="566057"/>
                  </a:cubicBezTo>
                  <a:close/>
                  <a:moveTo>
                    <a:pt x="263734" y="566057"/>
                  </a:moveTo>
                  <a:lnTo>
                    <a:pt x="263734" y="0"/>
                  </a:lnTo>
                  <a:lnTo>
                    <a:pt x="2748096" y="0"/>
                  </a:lnTo>
                  <a:lnTo>
                    <a:pt x="2748096" y="566057"/>
                  </a:lnTo>
                  <a:close/>
                  <a:moveTo>
                    <a:pt x="263725" y="566057"/>
                  </a:moveTo>
                  <a:lnTo>
                    <a:pt x="260797" y="566057"/>
                  </a:lnTo>
                  <a:cubicBezTo>
                    <a:pt x="235491" y="566057"/>
                    <a:pt x="212650" y="550891"/>
                    <a:pt x="202830" y="527569"/>
                  </a:cubicBez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63725" y="0"/>
                  </a:lnTo>
                  <a:close/>
                </a:path>
              </a:pathLst>
            </a:custGeom>
            <a:solidFill>
              <a:srgbClr val="FFF8B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17">
              <a:extLst>
                <a:ext uri="{FF2B5EF4-FFF2-40B4-BE49-F238E27FC236}">
                  <a16:creationId xmlns:a16="http://schemas.microsoft.com/office/drawing/2014/main" id="{923854C8-88CC-1626-70D2-B6719703AC72}"/>
                </a:ext>
              </a:extLst>
            </p:cNvPr>
            <p:cNvSpPr/>
            <p:nvPr/>
          </p:nvSpPr>
          <p:spPr>
            <a:xfrm>
              <a:off x="1320799" y="3302000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solidFill>
              <a:srgbClr val="FFF8B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18">
              <a:extLst>
                <a:ext uri="{FF2B5EF4-FFF2-40B4-BE49-F238E27FC236}">
                  <a16:creationId xmlns:a16="http://schemas.microsoft.com/office/drawing/2014/main" id="{A481189D-1326-1393-9418-8F5C4EC64708}"/>
                </a:ext>
              </a:extLst>
            </p:cNvPr>
            <p:cNvSpPr/>
            <p:nvPr/>
          </p:nvSpPr>
          <p:spPr>
            <a:xfrm>
              <a:off x="2024079" y="3302000"/>
              <a:ext cx="3005201" cy="566057"/>
            </a:xfrm>
            <a:custGeom>
              <a:avLst/>
              <a:gdLst/>
              <a:ahLst/>
              <a:cxnLst/>
              <a:rect l="0" t="0" r="0" b="0"/>
              <a:pathLst>
                <a:path w="3005201" h="566057">
                  <a:moveTo>
                    <a:pt x="2748096" y="0"/>
                  </a:moveTo>
                  <a:lnTo>
                    <a:pt x="2929779" y="0"/>
                  </a:lnTo>
                  <a:cubicBezTo>
                    <a:pt x="2974760" y="0"/>
                    <a:pt x="3005201" y="45845"/>
                    <a:pt x="2987746" y="87302"/>
                  </a:cubicBezTo>
                  <a:lnTo>
                    <a:pt x="2800937" y="530971"/>
                  </a:lnTo>
                  <a:cubicBezTo>
                    <a:pt x="2791985" y="552231"/>
                    <a:pt x="2771164" y="566057"/>
                    <a:pt x="2748096" y="566057"/>
                  </a:cubicBezTo>
                  <a:moveTo>
                    <a:pt x="263637" y="0"/>
                  </a:moveTo>
                  <a:lnTo>
                    <a:pt x="2748106" y="0"/>
                  </a:lnTo>
                  <a:moveTo>
                    <a:pt x="260816" y="566057"/>
                  </a:moveTo>
                  <a:lnTo>
                    <a:pt x="263637" y="566057"/>
                  </a:lnTo>
                  <a:lnTo>
                    <a:pt x="2748106" y="566057"/>
                  </a:lnTo>
                  <a:moveTo>
                    <a:pt x="263725" y="566057"/>
                  </a:moveTo>
                  <a:lnTo>
                    <a:pt x="260797" y="566057"/>
                  </a:lnTo>
                  <a:cubicBezTo>
                    <a:pt x="235491" y="566057"/>
                    <a:pt x="212650" y="550891"/>
                    <a:pt x="202830" y="527569"/>
                  </a:cubicBez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63725" y="0"/>
                  </a:ln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nded Rectangle 19">
              <a:extLst>
                <a:ext uri="{FF2B5EF4-FFF2-40B4-BE49-F238E27FC236}">
                  <a16:creationId xmlns:a16="http://schemas.microsoft.com/office/drawing/2014/main" id="{1C76E2AA-2A61-35ED-C214-A003AD0D917D}"/>
                </a:ext>
              </a:extLst>
            </p:cNvPr>
            <p:cNvSpPr/>
            <p:nvPr/>
          </p:nvSpPr>
          <p:spPr>
            <a:xfrm>
              <a:off x="1320799" y="3302000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5A63FD9-1D96-78AD-51A1-5192BA64A25C}"/>
              </a:ext>
            </a:extLst>
          </p:cNvPr>
          <p:cNvGrpSpPr/>
          <p:nvPr/>
        </p:nvGrpSpPr>
        <p:grpSpPr>
          <a:xfrm>
            <a:off x="2337253" y="4572906"/>
            <a:ext cx="3072914" cy="566057"/>
            <a:chOff x="1643137" y="4056742"/>
            <a:chExt cx="3072914" cy="566057"/>
          </a:xfrm>
        </p:grpSpPr>
        <p:sp>
          <p:nvSpPr>
            <p:cNvPr id="33" name="Rounded Rectangle 21">
              <a:extLst>
                <a:ext uri="{FF2B5EF4-FFF2-40B4-BE49-F238E27FC236}">
                  <a16:creationId xmlns:a16="http://schemas.microsoft.com/office/drawing/2014/main" id="{155FAB02-CC84-9BCB-2D76-0F8C8BF90555}"/>
                </a:ext>
              </a:extLst>
            </p:cNvPr>
            <p:cNvSpPr/>
            <p:nvPr/>
          </p:nvSpPr>
          <p:spPr>
            <a:xfrm>
              <a:off x="2346417" y="4056742"/>
              <a:ext cx="2369634" cy="566057"/>
            </a:xfrm>
            <a:custGeom>
              <a:avLst/>
              <a:gdLst/>
              <a:ahLst/>
              <a:cxnLst/>
              <a:rect l="0" t="0" r="0" b="0"/>
              <a:pathLst>
                <a:path w="2369634" h="566057">
                  <a:moveTo>
                    <a:pt x="202830" y="527569"/>
                  </a:move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55857" y="0"/>
                  </a:lnTo>
                  <a:lnTo>
                    <a:pt x="255857" y="566057"/>
                  </a:lnTo>
                  <a:cubicBezTo>
                    <a:pt x="230551" y="566057"/>
                    <a:pt x="212651" y="550891"/>
                    <a:pt x="202830" y="527569"/>
                  </a:cubicBezTo>
                  <a:close/>
                  <a:moveTo>
                    <a:pt x="2111282" y="566057"/>
                  </a:moveTo>
                  <a:lnTo>
                    <a:pt x="255872" y="566057"/>
                  </a:lnTo>
                  <a:lnTo>
                    <a:pt x="255872" y="0"/>
                  </a:lnTo>
                  <a:lnTo>
                    <a:pt x="2111282" y="0"/>
                  </a:lnTo>
                  <a:close/>
                  <a:moveTo>
                    <a:pt x="2111282" y="566057"/>
                  </a:moveTo>
                  <a:lnTo>
                    <a:pt x="2111282" y="0"/>
                  </a:lnTo>
                  <a:lnTo>
                    <a:pt x="2294212" y="0"/>
                  </a:lnTo>
                  <a:cubicBezTo>
                    <a:pt x="2339194" y="0"/>
                    <a:pt x="2369634" y="45845"/>
                    <a:pt x="2352179" y="87302"/>
                  </a:cubicBezTo>
                  <a:lnTo>
                    <a:pt x="2166803" y="527569"/>
                  </a:lnTo>
                  <a:cubicBezTo>
                    <a:pt x="2156983" y="550891"/>
                    <a:pt x="2136587" y="566057"/>
                    <a:pt x="2111282" y="566057"/>
                  </a:cubicBezTo>
                  <a:close/>
                </a:path>
              </a:pathLst>
            </a:custGeom>
            <a:solidFill>
              <a:srgbClr val="FFE4C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22">
              <a:extLst>
                <a:ext uri="{FF2B5EF4-FFF2-40B4-BE49-F238E27FC236}">
                  <a16:creationId xmlns:a16="http://schemas.microsoft.com/office/drawing/2014/main" id="{23B3F6BA-4711-B906-A414-B89D945F2F05}"/>
                </a:ext>
              </a:extLst>
            </p:cNvPr>
            <p:cNvSpPr/>
            <p:nvPr/>
          </p:nvSpPr>
          <p:spPr>
            <a:xfrm>
              <a:off x="1643137" y="4056742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solidFill>
              <a:srgbClr val="FFE4C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23">
              <a:extLst>
                <a:ext uri="{FF2B5EF4-FFF2-40B4-BE49-F238E27FC236}">
                  <a16:creationId xmlns:a16="http://schemas.microsoft.com/office/drawing/2014/main" id="{B8E74EF4-51B2-377B-2488-F890185E9F70}"/>
                </a:ext>
              </a:extLst>
            </p:cNvPr>
            <p:cNvSpPr/>
            <p:nvPr/>
          </p:nvSpPr>
          <p:spPr>
            <a:xfrm>
              <a:off x="2346417" y="4056742"/>
              <a:ext cx="2369634" cy="566057"/>
            </a:xfrm>
            <a:custGeom>
              <a:avLst/>
              <a:gdLst/>
              <a:ahLst/>
              <a:cxnLst/>
              <a:rect l="0" t="0" r="0" b="0"/>
              <a:pathLst>
                <a:path w="2369634" h="566057">
                  <a:moveTo>
                    <a:pt x="255857" y="566057"/>
                  </a:moveTo>
                  <a:cubicBezTo>
                    <a:pt x="230551" y="566057"/>
                    <a:pt x="212651" y="550891"/>
                    <a:pt x="202830" y="527569"/>
                  </a:cubicBez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55857" y="0"/>
                  </a:lnTo>
                  <a:moveTo>
                    <a:pt x="2111282" y="566057"/>
                  </a:moveTo>
                  <a:lnTo>
                    <a:pt x="255872" y="566057"/>
                  </a:lnTo>
                  <a:moveTo>
                    <a:pt x="2111282" y="0"/>
                  </a:moveTo>
                  <a:lnTo>
                    <a:pt x="255872" y="0"/>
                  </a:lnTo>
                  <a:moveTo>
                    <a:pt x="2111282" y="0"/>
                  </a:moveTo>
                  <a:lnTo>
                    <a:pt x="2294212" y="0"/>
                  </a:lnTo>
                  <a:cubicBezTo>
                    <a:pt x="2339194" y="0"/>
                    <a:pt x="2369634" y="45845"/>
                    <a:pt x="2352179" y="87302"/>
                  </a:cubicBezTo>
                  <a:lnTo>
                    <a:pt x="2166803" y="527569"/>
                  </a:lnTo>
                  <a:cubicBezTo>
                    <a:pt x="2156983" y="550891"/>
                    <a:pt x="2136587" y="566057"/>
                    <a:pt x="2111282" y="566057"/>
                  </a:cubicBez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24">
              <a:extLst>
                <a:ext uri="{FF2B5EF4-FFF2-40B4-BE49-F238E27FC236}">
                  <a16:creationId xmlns:a16="http://schemas.microsoft.com/office/drawing/2014/main" id="{F0E1B2DE-D268-4718-4ED0-84A21B0E7482}"/>
                </a:ext>
              </a:extLst>
            </p:cNvPr>
            <p:cNvSpPr/>
            <p:nvPr/>
          </p:nvSpPr>
          <p:spPr>
            <a:xfrm>
              <a:off x="1643137" y="4056742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05F479-6BB8-CDF7-9D6D-35ECAB20BD09}"/>
              </a:ext>
            </a:extLst>
          </p:cNvPr>
          <p:cNvGrpSpPr/>
          <p:nvPr/>
        </p:nvGrpSpPr>
        <p:grpSpPr>
          <a:xfrm>
            <a:off x="2651730" y="5327649"/>
            <a:ext cx="2437335" cy="566057"/>
            <a:chOff x="1957614" y="4811485"/>
            <a:chExt cx="2437335" cy="566057"/>
          </a:xfrm>
        </p:grpSpPr>
        <p:sp>
          <p:nvSpPr>
            <p:cNvPr id="38" name="Rounded Rectangle 26">
              <a:extLst>
                <a:ext uri="{FF2B5EF4-FFF2-40B4-BE49-F238E27FC236}">
                  <a16:creationId xmlns:a16="http://schemas.microsoft.com/office/drawing/2014/main" id="{F5902568-ADC3-CC1E-4D63-1D4727247982}"/>
                </a:ext>
              </a:extLst>
            </p:cNvPr>
            <p:cNvSpPr/>
            <p:nvPr/>
          </p:nvSpPr>
          <p:spPr>
            <a:xfrm>
              <a:off x="2660894" y="4811485"/>
              <a:ext cx="1734055" cy="566057"/>
            </a:xfrm>
            <a:custGeom>
              <a:avLst/>
              <a:gdLst/>
              <a:ahLst/>
              <a:cxnLst/>
              <a:rect l="0" t="0" r="0" b="0"/>
              <a:pathLst>
                <a:path w="1734055" h="566057">
                  <a:moveTo>
                    <a:pt x="1482329" y="566057"/>
                  </a:moveTo>
                  <a:lnTo>
                    <a:pt x="1482329" y="0"/>
                  </a:lnTo>
                  <a:lnTo>
                    <a:pt x="1658633" y="0"/>
                  </a:lnTo>
                  <a:cubicBezTo>
                    <a:pt x="1703615" y="0"/>
                    <a:pt x="1734055" y="45845"/>
                    <a:pt x="1716599" y="87301"/>
                  </a:cubicBezTo>
                  <a:lnTo>
                    <a:pt x="1527704" y="535929"/>
                  </a:lnTo>
                  <a:cubicBezTo>
                    <a:pt x="1520017" y="554185"/>
                    <a:pt x="1502137" y="566057"/>
                    <a:pt x="1482329" y="566057"/>
                  </a:cubicBezTo>
                  <a:close/>
                  <a:moveTo>
                    <a:pt x="255872" y="566057"/>
                  </a:moveTo>
                  <a:lnTo>
                    <a:pt x="255872" y="0"/>
                  </a:lnTo>
                  <a:lnTo>
                    <a:pt x="1482329" y="0"/>
                  </a:lnTo>
                  <a:lnTo>
                    <a:pt x="1482329" y="566057"/>
                  </a:lnTo>
                  <a:close/>
                  <a:moveTo>
                    <a:pt x="204745" y="532116"/>
                  </a:move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55863" y="0"/>
                  </a:lnTo>
                  <a:lnTo>
                    <a:pt x="255863" y="566057"/>
                  </a:lnTo>
                  <a:cubicBezTo>
                    <a:pt x="233547" y="566057"/>
                    <a:pt x="213405" y="552683"/>
                    <a:pt x="204745" y="532116"/>
                  </a:cubicBezTo>
                  <a:close/>
                </a:path>
              </a:pathLst>
            </a:custGeom>
            <a:solidFill>
              <a:srgbClr val="FFD9D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031E035B-3AD2-FC65-BCEE-FD6BB5638F89}"/>
                </a:ext>
              </a:extLst>
            </p:cNvPr>
            <p:cNvSpPr/>
            <p:nvPr/>
          </p:nvSpPr>
          <p:spPr>
            <a:xfrm>
              <a:off x="1957614" y="4811485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solidFill>
              <a:srgbClr val="FFD9D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28">
              <a:extLst>
                <a:ext uri="{FF2B5EF4-FFF2-40B4-BE49-F238E27FC236}">
                  <a16:creationId xmlns:a16="http://schemas.microsoft.com/office/drawing/2014/main" id="{B43C7C0A-DEA1-74FF-9E8E-C1F25B1768B8}"/>
                </a:ext>
              </a:extLst>
            </p:cNvPr>
            <p:cNvSpPr/>
            <p:nvPr/>
          </p:nvSpPr>
          <p:spPr>
            <a:xfrm>
              <a:off x="2660894" y="4811485"/>
              <a:ext cx="1734055" cy="566057"/>
            </a:xfrm>
            <a:custGeom>
              <a:avLst/>
              <a:gdLst/>
              <a:ahLst/>
              <a:cxnLst/>
              <a:rect l="0" t="0" r="0" b="0"/>
              <a:pathLst>
                <a:path w="1734055" h="566057">
                  <a:moveTo>
                    <a:pt x="1482329" y="0"/>
                  </a:moveTo>
                  <a:lnTo>
                    <a:pt x="1658633" y="0"/>
                  </a:lnTo>
                  <a:cubicBezTo>
                    <a:pt x="1703615" y="0"/>
                    <a:pt x="1734055" y="45845"/>
                    <a:pt x="1716599" y="87301"/>
                  </a:cubicBezTo>
                  <a:lnTo>
                    <a:pt x="1527704" y="535929"/>
                  </a:lnTo>
                  <a:cubicBezTo>
                    <a:pt x="1520017" y="554185"/>
                    <a:pt x="1502137" y="566057"/>
                    <a:pt x="1482329" y="566057"/>
                  </a:cubicBezTo>
                  <a:moveTo>
                    <a:pt x="1482329" y="566057"/>
                  </a:moveTo>
                  <a:lnTo>
                    <a:pt x="255872" y="566057"/>
                  </a:lnTo>
                  <a:moveTo>
                    <a:pt x="1482329" y="0"/>
                  </a:moveTo>
                  <a:lnTo>
                    <a:pt x="255872" y="0"/>
                  </a:lnTo>
                  <a:moveTo>
                    <a:pt x="255863" y="566057"/>
                  </a:moveTo>
                  <a:cubicBezTo>
                    <a:pt x="233547" y="566057"/>
                    <a:pt x="213405" y="552683"/>
                    <a:pt x="204745" y="532116"/>
                  </a:cubicBezTo>
                  <a:lnTo>
                    <a:pt x="17455" y="87302"/>
                  </a:lnTo>
                  <a:cubicBezTo>
                    <a:pt x="0" y="45845"/>
                    <a:pt x="30440" y="0"/>
                    <a:pt x="75421" y="0"/>
                  </a:cubicBezTo>
                  <a:lnTo>
                    <a:pt x="255863" y="0"/>
                  </a:ln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29">
              <a:extLst>
                <a:ext uri="{FF2B5EF4-FFF2-40B4-BE49-F238E27FC236}">
                  <a16:creationId xmlns:a16="http://schemas.microsoft.com/office/drawing/2014/main" id="{39EF5BCE-DC02-1206-90A4-DD2F33B9D037}"/>
                </a:ext>
              </a:extLst>
            </p:cNvPr>
            <p:cNvSpPr/>
            <p:nvPr/>
          </p:nvSpPr>
          <p:spPr>
            <a:xfrm>
              <a:off x="1957614" y="4811485"/>
              <a:ext cx="566057" cy="566057"/>
            </a:xfrm>
            <a:custGeom>
              <a:avLst/>
              <a:gdLst/>
              <a:ahLst/>
              <a:cxnLst/>
              <a:rect l="0" t="0" r="0" b="0"/>
              <a:pathLst>
                <a:path w="566057" h="566057">
                  <a:moveTo>
                    <a:pt x="0" y="283028"/>
                  </a:moveTo>
                  <a:cubicBezTo>
                    <a:pt x="0" y="126716"/>
                    <a:pt x="126716" y="0"/>
                    <a:pt x="283028" y="0"/>
                  </a:cubicBezTo>
                  <a:cubicBezTo>
                    <a:pt x="439340" y="0"/>
                    <a:pt x="566057" y="126716"/>
                    <a:pt x="566057" y="283028"/>
                  </a:cubicBezTo>
                  <a:cubicBezTo>
                    <a:pt x="566057" y="439340"/>
                    <a:pt x="439340" y="566057"/>
                    <a:pt x="283028" y="566057"/>
                  </a:cubicBezTo>
                  <a:cubicBezTo>
                    <a:pt x="126716" y="566057"/>
                    <a:pt x="0" y="439340"/>
                    <a:pt x="0" y="283028"/>
                  </a:cubicBezTo>
                </a:path>
              </a:pathLst>
            </a:custGeom>
            <a:noFill/>
            <a:ln w="1179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2" name="Rounded Rectangle 31">
            <a:extLst>
              <a:ext uri="{FF2B5EF4-FFF2-40B4-BE49-F238E27FC236}">
                <a16:creationId xmlns:a16="http://schemas.microsoft.com/office/drawing/2014/main" id="{0BB1813C-3091-E9EA-8424-0DA3A0414BC3}"/>
              </a:ext>
            </a:extLst>
          </p:cNvPr>
          <p:cNvSpPr/>
          <p:nvPr/>
        </p:nvSpPr>
        <p:spPr>
          <a:xfrm>
            <a:off x="1187517" y="1648278"/>
            <a:ext cx="333985" cy="377371"/>
          </a:xfrm>
          <a:custGeom>
            <a:avLst/>
            <a:gdLst/>
            <a:ahLst/>
            <a:cxnLst/>
            <a:rect l="0" t="0" r="0" b="0"/>
            <a:pathLst>
              <a:path w="333985" h="377371">
                <a:moveTo>
                  <a:pt x="797" y="275166"/>
                </a:moveTo>
                <a:lnTo>
                  <a:pt x="797" y="248121"/>
                </a:lnTo>
                <a:cubicBezTo>
                  <a:pt x="786" y="246635"/>
                  <a:pt x="1648" y="245281"/>
                  <a:pt x="2998" y="244662"/>
                </a:cubicBezTo>
                <a:cubicBezTo>
                  <a:pt x="4243" y="243860"/>
                  <a:pt x="5842" y="243860"/>
                  <a:pt x="7087" y="244662"/>
                </a:cubicBezTo>
                <a:cubicBezTo>
                  <a:pt x="35800" y="264360"/>
                  <a:pt x="69104" y="276327"/>
                  <a:pt x="103788" y="279412"/>
                </a:cubicBezTo>
                <a:cubicBezTo>
                  <a:pt x="105630" y="279688"/>
                  <a:pt x="107053" y="281175"/>
                  <a:pt x="107247" y="283028"/>
                </a:cubicBezTo>
                <a:cubicBezTo>
                  <a:pt x="108295" y="299426"/>
                  <a:pt x="112570" y="315457"/>
                  <a:pt x="119826" y="330199"/>
                </a:cubicBezTo>
                <a:cubicBezTo>
                  <a:pt x="120540" y="331743"/>
                  <a:pt x="120082" y="333576"/>
                  <a:pt x="118726" y="334602"/>
                </a:cubicBezTo>
                <a:cubicBezTo>
                  <a:pt x="117951" y="335824"/>
                  <a:pt x="116546" y="336496"/>
                  <a:pt x="115109" y="336332"/>
                </a:cubicBezTo>
                <a:cubicBezTo>
                  <a:pt x="49226" y="330199"/>
                  <a:pt x="11" y="304884"/>
                  <a:pt x="797" y="275166"/>
                </a:cubicBezTo>
                <a:close/>
                <a:moveTo>
                  <a:pt x="11" y="177836"/>
                </a:moveTo>
                <a:cubicBezTo>
                  <a:pt x="0" y="176350"/>
                  <a:pt x="861" y="174996"/>
                  <a:pt x="2212" y="174377"/>
                </a:cubicBezTo>
                <a:cubicBezTo>
                  <a:pt x="3457" y="173574"/>
                  <a:pt x="5056" y="173574"/>
                  <a:pt x="6300" y="174377"/>
                </a:cubicBezTo>
                <a:cubicBezTo>
                  <a:pt x="30987" y="194975"/>
                  <a:pt x="73127" y="206768"/>
                  <a:pt x="117625" y="210699"/>
                </a:cubicBezTo>
                <a:cubicBezTo>
                  <a:pt x="118926" y="210877"/>
                  <a:pt x="120079" y="211626"/>
                  <a:pt x="120770" y="212743"/>
                </a:cubicBezTo>
                <a:cubicBezTo>
                  <a:pt x="121413" y="213918"/>
                  <a:pt x="121413" y="215341"/>
                  <a:pt x="120770" y="216516"/>
                </a:cubicBezTo>
                <a:cubicBezTo>
                  <a:pt x="113426" y="230246"/>
                  <a:pt x="108732" y="245234"/>
                  <a:pt x="106933" y="260700"/>
                </a:cubicBezTo>
                <a:cubicBezTo>
                  <a:pt x="106820" y="261739"/>
                  <a:pt x="106314" y="262696"/>
                  <a:pt x="105518" y="263373"/>
                </a:cubicBezTo>
                <a:cubicBezTo>
                  <a:pt x="104663" y="264016"/>
                  <a:pt x="103590" y="264298"/>
                  <a:pt x="102530" y="264159"/>
                </a:cubicBezTo>
                <a:cubicBezTo>
                  <a:pt x="42937" y="255826"/>
                  <a:pt x="11" y="232240"/>
                  <a:pt x="11" y="204409"/>
                </a:cubicBezTo>
                <a:close/>
                <a:moveTo>
                  <a:pt x="292316" y="103148"/>
                </a:moveTo>
                <a:cubicBezTo>
                  <a:pt x="293572" y="102383"/>
                  <a:pt x="295149" y="102383"/>
                  <a:pt x="296405" y="103148"/>
                </a:cubicBezTo>
                <a:cubicBezTo>
                  <a:pt x="297791" y="103751"/>
                  <a:pt x="298708" y="105096"/>
                  <a:pt x="298763" y="106607"/>
                </a:cubicBezTo>
                <a:lnTo>
                  <a:pt x="298763" y="134124"/>
                </a:lnTo>
                <a:cubicBezTo>
                  <a:pt x="298210" y="143998"/>
                  <a:pt x="293531" y="153185"/>
                  <a:pt x="285870" y="159439"/>
                </a:cubicBezTo>
                <a:cubicBezTo>
                  <a:pt x="284738" y="160524"/>
                  <a:pt x="283070" y="160833"/>
                  <a:pt x="281624" y="160225"/>
                </a:cubicBezTo>
                <a:cubicBezTo>
                  <a:pt x="230481" y="138169"/>
                  <a:pt x="170923" y="152371"/>
                  <a:pt x="135236" y="195132"/>
                </a:cubicBezTo>
                <a:cubicBezTo>
                  <a:pt x="134514" y="196130"/>
                  <a:pt x="133316" y="196669"/>
                  <a:pt x="132091" y="196547"/>
                </a:cubicBezTo>
                <a:cubicBezTo>
                  <a:pt x="57717" y="192459"/>
                  <a:pt x="11" y="165886"/>
                  <a:pt x="11" y="133652"/>
                </a:cubicBezTo>
                <a:lnTo>
                  <a:pt x="11" y="107079"/>
                </a:lnTo>
                <a:cubicBezTo>
                  <a:pt x="0" y="105593"/>
                  <a:pt x="861" y="104239"/>
                  <a:pt x="2212" y="103619"/>
                </a:cubicBezTo>
                <a:cubicBezTo>
                  <a:pt x="3457" y="102817"/>
                  <a:pt x="5056" y="102817"/>
                  <a:pt x="6300" y="103619"/>
                </a:cubicBezTo>
                <a:cubicBezTo>
                  <a:pt x="36805" y="128463"/>
                  <a:pt x="94196" y="141514"/>
                  <a:pt x="149387" y="141514"/>
                </a:cubicBezTo>
                <a:cubicBezTo>
                  <a:pt x="204420" y="141514"/>
                  <a:pt x="261341" y="128463"/>
                  <a:pt x="292316" y="103148"/>
                </a:cubicBezTo>
                <a:close/>
                <a:moveTo>
                  <a:pt x="11" y="62895"/>
                </a:moveTo>
                <a:cubicBezTo>
                  <a:pt x="11" y="28159"/>
                  <a:pt x="66889" y="0"/>
                  <a:pt x="149387" y="0"/>
                </a:cubicBezTo>
                <a:cubicBezTo>
                  <a:pt x="231885" y="0"/>
                  <a:pt x="298763" y="28159"/>
                  <a:pt x="298763" y="62895"/>
                </a:cubicBezTo>
                <a:cubicBezTo>
                  <a:pt x="298763" y="97631"/>
                  <a:pt x="231885" y="125790"/>
                  <a:pt x="149387" y="125790"/>
                </a:cubicBezTo>
                <a:cubicBezTo>
                  <a:pt x="66889" y="125790"/>
                  <a:pt x="11" y="97631"/>
                  <a:pt x="11" y="62895"/>
                </a:cubicBezTo>
                <a:moveTo>
                  <a:pt x="333985" y="275166"/>
                </a:moveTo>
                <a:cubicBezTo>
                  <a:pt x="333985" y="331612"/>
                  <a:pt x="288226" y="377371"/>
                  <a:pt x="231780" y="377371"/>
                </a:cubicBezTo>
                <a:cubicBezTo>
                  <a:pt x="175334" y="377371"/>
                  <a:pt x="129575" y="331612"/>
                  <a:pt x="129575" y="275166"/>
                </a:cubicBezTo>
                <a:cubicBezTo>
                  <a:pt x="129575" y="218720"/>
                  <a:pt x="175334" y="172961"/>
                  <a:pt x="231780" y="172961"/>
                </a:cubicBezTo>
                <a:cubicBezTo>
                  <a:pt x="288190" y="173048"/>
                  <a:pt x="333898" y="218756"/>
                  <a:pt x="333985" y="275166"/>
                </a:cubicBezTo>
                <a:close/>
                <a:moveTo>
                  <a:pt x="192470" y="286959"/>
                </a:moveTo>
                <a:lnTo>
                  <a:pt x="216056" y="286959"/>
                </a:lnTo>
                <a:cubicBezTo>
                  <a:pt x="218227" y="286959"/>
                  <a:pt x="219987" y="288719"/>
                  <a:pt x="219987" y="290890"/>
                </a:cubicBezTo>
                <a:lnTo>
                  <a:pt x="219987" y="314476"/>
                </a:lnTo>
                <a:cubicBezTo>
                  <a:pt x="219987" y="320989"/>
                  <a:pt x="225267" y="326269"/>
                  <a:pt x="231780" y="326269"/>
                </a:cubicBezTo>
                <a:cubicBezTo>
                  <a:pt x="238293" y="326269"/>
                  <a:pt x="243573" y="320989"/>
                  <a:pt x="243573" y="314476"/>
                </a:cubicBezTo>
                <a:lnTo>
                  <a:pt x="243573" y="290890"/>
                </a:lnTo>
                <a:cubicBezTo>
                  <a:pt x="243573" y="288719"/>
                  <a:pt x="245333" y="286959"/>
                  <a:pt x="247504" y="286959"/>
                </a:cubicBezTo>
                <a:lnTo>
                  <a:pt x="271089" y="286959"/>
                </a:lnTo>
                <a:cubicBezTo>
                  <a:pt x="277602" y="286959"/>
                  <a:pt x="282882" y="281679"/>
                  <a:pt x="282882" y="275166"/>
                </a:cubicBezTo>
                <a:cubicBezTo>
                  <a:pt x="282882" y="268653"/>
                  <a:pt x="277602" y="263373"/>
                  <a:pt x="271089" y="263373"/>
                </a:cubicBezTo>
                <a:lnTo>
                  <a:pt x="247504" y="263373"/>
                </a:lnTo>
                <a:cubicBezTo>
                  <a:pt x="245333" y="263373"/>
                  <a:pt x="243573" y="261613"/>
                  <a:pt x="243573" y="259442"/>
                </a:cubicBezTo>
                <a:lnTo>
                  <a:pt x="243573" y="235857"/>
                </a:lnTo>
                <a:cubicBezTo>
                  <a:pt x="243573" y="229344"/>
                  <a:pt x="238293" y="224064"/>
                  <a:pt x="231780" y="224064"/>
                </a:cubicBezTo>
                <a:cubicBezTo>
                  <a:pt x="225267" y="224064"/>
                  <a:pt x="219987" y="229344"/>
                  <a:pt x="219987" y="235857"/>
                </a:cubicBezTo>
                <a:lnTo>
                  <a:pt x="219987" y="259442"/>
                </a:lnTo>
                <a:cubicBezTo>
                  <a:pt x="219987" y="261613"/>
                  <a:pt x="218227" y="263373"/>
                  <a:pt x="216056" y="263373"/>
                </a:cubicBezTo>
                <a:lnTo>
                  <a:pt x="192470" y="263373"/>
                </a:lnTo>
                <a:cubicBezTo>
                  <a:pt x="185993" y="263458"/>
                  <a:pt x="180762" y="268689"/>
                  <a:pt x="180677" y="275166"/>
                </a:cubicBezTo>
                <a:cubicBezTo>
                  <a:pt x="180762" y="281644"/>
                  <a:pt x="185993" y="286874"/>
                  <a:pt x="192470" y="286959"/>
                </a:cubicBezTo>
                <a:close/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32">
            <a:extLst>
              <a:ext uri="{FF2B5EF4-FFF2-40B4-BE49-F238E27FC236}">
                <a16:creationId xmlns:a16="http://schemas.microsoft.com/office/drawing/2014/main" id="{D6DB004F-112A-9362-B1AC-AC4ED51BF172}"/>
              </a:ext>
            </a:extLst>
          </p:cNvPr>
          <p:cNvSpPr/>
          <p:nvPr/>
        </p:nvSpPr>
        <p:spPr>
          <a:xfrm>
            <a:off x="2442547" y="4669721"/>
            <a:ext cx="355469" cy="380120"/>
          </a:xfrm>
          <a:custGeom>
            <a:avLst/>
            <a:gdLst/>
            <a:ahLst/>
            <a:cxnLst/>
            <a:rect l="0" t="0" r="0" b="0"/>
            <a:pathLst>
              <a:path w="355469" h="380120">
                <a:moveTo>
                  <a:pt x="198065" y="1821"/>
                </a:moveTo>
                <a:cubicBezTo>
                  <a:pt x="202473" y="3646"/>
                  <a:pt x="205346" y="7947"/>
                  <a:pt x="205345" y="12717"/>
                </a:cubicBezTo>
                <a:lnTo>
                  <a:pt x="205345" y="35658"/>
                </a:lnTo>
                <a:lnTo>
                  <a:pt x="309626" y="35658"/>
                </a:lnTo>
                <a:cubicBezTo>
                  <a:pt x="334940" y="35658"/>
                  <a:pt x="355461" y="56179"/>
                  <a:pt x="355461" y="81493"/>
                </a:cubicBezTo>
                <a:lnTo>
                  <a:pt x="355461" y="267993"/>
                </a:lnTo>
                <a:cubicBezTo>
                  <a:pt x="355469" y="293313"/>
                  <a:pt x="334946" y="313844"/>
                  <a:pt x="309626" y="313844"/>
                </a:cubicBezTo>
                <a:lnTo>
                  <a:pt x="174480" y="313844"/>
                </a:lnTo>
                <a:lnTo>
                  <a:pt x="98974" y="366000"/>
                </a:lnTo>
                <a:cubicBezTo>
                  <a:pt x="78549" y="380120"/>
                  <a:pt x="50702" y="365497"/>
                  <a:pt x="50702" y="340685"/>
                </a:cubicBezTo>
                <a:lnTo>
                  <a:pt x="50702" y="313844"/>
                </a:lnTo>
                <a:lnTo>
                  <a:pt x="45859" y="313844"/>
                </a:lnTo>
                <a:cubicBezTo>
                  <a:pt x="20533" y="313853"/>
                  <a:pt x="0" y="293320"/>
                  <a:pt x="8" y="267993"/>
                </a:cubicBezTo>
                <a:lnTo>
                  <a:pt x="8" y="81509"/>
                </a:lnTo>
                <a:cubicBezTo>
                  <a:pt x="0" y="56183"/>
                  <a:pt x="20533" y="35650"/>
                  <a:pt x="45859" y="35658"/>
                </a:cubicBezTo>
                <a:lnTo>
                  <a:pt x="79602" y="35658"/>
                </a:lnTo>
                <a:cubicBezTo>
                  <a:pt x="88286" y="35658"/>
                  <a:pt x="95326" y="42698"/>
                  <a:pt x="95326" y="51382"/>
                </a:cubicBezTo>
                <a:cubicBezTo>
                  <a:pt x="95326" y="60066"/>
                  <a:pt x="88286" y="67106"/>
                  <a:pt x="79602" y="67106"/>
                </a:cubicBezTo>
                <a:lnTo>
                  <a:pt x="45859" y="67106"/>
                </a:lnTo>
                <a:cubicBezTo>
                  <a:pt x="42040" y="67102"/>
                  <a:pt x="38377" y="68616"/>
                  <a:pt x="35675" y="71314"/>
                </a:cubicBezTo>
                <a:cubicBezTo>
                  <a:pt x="32974" y="74013"/>
                  <a:pt x="31456" y="77675"/>
                  <a:pt x="31456" y="81493"/>
                </a:cubicBezTo>
                <a:lnTo>
                  <a:pt x="31456" y="267993"/>
                </a:lnTo>
                <a:cubicBezTo>
                  <a:pt x="31456" y="275950"/>
                  <a:pt x="37903" y="282396"/>
                  <a:pt x="45859" y="282396"/>
                </a:cubicBezTo>
                <a:lnTo>
                  <a:pt x="66410" y="282396"/>
                </a:lnTo>
                <a:cubicBezTo>
                  <a:pt x="75094" y="282396"/>
                  <a:pt x="82134" y="289436"/>
                  <a:pt x="82134" y="298120"/>
                </a:cubicBezTo>
                <a:lnTo>
                  <a:pt x="82134" y="339411"/>
                </a:lnTo>
                <a:lnTo>
                  <a:pt x="160643" y="285179"/>
                </a:lnTo>
                <a:cubicBezTo>
                  <a:pt x="163268" y="283367"/>
                  <a:pt x="166383" y="282396"/>
                  <a:pt x="169574" y="282396"/>
                </a:cubicBezTo>
                <a:lnTo>
                  <a:pt x="309626" y="282396"/>
                </a:lnTo>
                <a:cubicBezTo>
                  <a:pt x="317582" y="282396"/>
                  <a:pt x="324013" y="275950"/>
                  <a:pt x="324013" y="267993"/>
                </a:cubicBezTo>
                <a:lnTo>
                  <a:pt x="324013" y="81509"/>
                </a:lnTo>
                <a:cubicBezTo>
                  <a:pt x="324017" y="77691"/>
                  <a:pt x="322503" y="74027"/>
                  <a:pt x="319805" y="71325"/>
                </a:cubicBezTo>
                <a:cubicBezTo>
                  <a:pt x="317106" y="68624"/>
                  <a:pt x="313444" y="67106"/>
                  <a:pt x="309626" y="67106"/>
                </a:cubicBezTo>
                <a:lnTo>
                  <a:pt x="205345" y="67106"/>
                </a:lnTo>
                <a:lnTo>
                  <a:pt x="205345" y="90031"/>
                </a:lnTo>
                <a:cubicBezTo>
                  <a:pt x="205341" y="94798"/>
                  <a:pt x="202468" y="99093"/>
                  <a:pt x="198064" y="100917"/>
                </a:cubicBezTo>
                <a:cubicBezTo>
                  <a:pt x="193660" y="102740"/>
                  <a:pt x="188592" y="101733"/>
                  <a:pt x="185219" y="98365"/>
                </a:cubicBezTo>
                <a:lnTo>
                  <a:pt x="146554" y="59716"/>
                </a:lnTo>
                <a:cubicBezTo>
                  <a:pt x="141945" y="55110"/>
                  <a:pt x="141945" y="47639"/>
                  <a:pt x="146554" y="43033"/>
                </a:cubicBezTo>
                <a:lnTo>
                  <a:pt x="185219" y="4384"/>
                </a:lnTo>
                <a:cubicBezTo>
                  <a:pt x="188589" y="1011"/>
                  <a:pt x="193659" y="0"/>
                  <a:pt x="198065" y="1821"/>
                </a:cubicBezTo>
                <a:close/>
                <a:moveTo>
                  <a:pt x="197594" y="174311"/>
                </a:moveTo>
                <a:cubicBezTo>
                  <a:pt x="197594" y="185292"/>
                  <a:pt x="188692" y="194194"/>
                  <a:pt x="177711" y="194194"/>
                </a:cubicBezTo>
                <a:cubicBezTo>
                  <a:pt x="166730" y="194194"/>
                  <a:pt x="157828" y="185292"/>
                  <a:pt x="157828" y="174311"/>
                </a:cubicBezTo>
                <a:cubicBezTo>
                  <a:pt x="157828" y="163334"/>
                  <a:pt x="166726" y="154436"/>
                  <a:pt x="177703" y="154436"/>
                </a:cubicBezTo>
                <a:cubicBezTo>
                  <a:pt x="188680" y="154436"/>
                  <a:pt x="197578" y="163334"/>
                  <a:pt x="197578" y="174311"/>
                </a:cubicBezTo>
                <a:close/>
                <a:moveTo>
                  <a:pt x="99367" y="194202"/>
                </a:moveTo>
                <a:cubicBezTo>
                  <a:pt x="88390" y="194202"/>
                  <a:pt x="79492" y="185303"/>
                  <a:pt x="79492" y="174327"/>
                </a:cubicBezTo>
                <a:cubicBezTo>
                  <a:pt x="79492" y="163350"/>
                  <a:pt x="88390" y="154452"/>
                  <a:pt x="99367" y="154452"/>
                </a:cubicBezTo>
                <a:cubicBezTo>
                  <a:pt x="110344" y="154452"/>
                  <a:pt x="119242" y="163350"/>
                  <a:pt x="119242" y="174327"/>
                </a:cubicBezTo>
                <a:cubicBezTo>
                  <a:pt x="119242" y="185303"/>
                  <a:pt x="110344" y="194202"/>
                  <a:pt x="99367" y="194202"/>
                </a:cubicBezTo>
                <a:close/>
                <a:moveTo>
                  <a:pt x="275993" y="174327"/>
                </a:moveTo>
                <a:cubicBezTo>
                  <a:pt x="275993" y="185303"/>
                  <a:pt x="267094" y="194202"/>
                  <a:pt x="256118" y="194202"/>
                </a:cubicBezTo>
                <a:cubicBezTo>
                  <a:pt x="245141" y="194202"/>
                  <a:pt x="236243" y="185303"/>
                  <a:pt x="236243" y="174327"/>
                </a:cubicBezTo>
                <a:cubicBezTo>
                  <a:pt x="236243" y="163350"/>
                  <a:pt x="245141" y="154452"/>
                  <a:pt x="256118" y="154452"/>
                </a:cubicBezTo>
                <a:cubicBezTo>
                  <a:pt x="267094" y="154452"/>
                  <a:pt x="275993" y="163350"/>
                  <a:pt x="275993" y="174327"/>
                </a:cubicBezTo>
                <a:close/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33">
            <a:extLst>
              <a:ext uri="{FF2B5EF4-FFF2-40B4-BE49-F238E27FC236}">
                <a16:creationId xmlns:a16="http://schemas.microsoft.com/office/drawing/2014/main" id="{1B654C92-7A1F-78C8-9ECE-D1BA14182111}"/>
              </a:ext>
            </a:extLst>
          </p:cNvPr>
          <p:cNvSpPr/>
          <p:nvPr/>
        </p:nvSpPr>
        <p:spPr>
          <a:xfrm>
            <a:off x="2124630" y="3920528"/>
            <a:ext cx="346627" cy="361321"/>
          </a:xfrm>
          <a:custGeom>
            <a:avLst/>
            <a:gdLst/>
            <a:ahLst/>
            <a:cxnLst/>
            <a:rect l="0" t="0" r="0" b="0"/>
            <a:pathLst>
              <a:path w="346627" h="361321">
                <a:moveTo>
                  <a:pt x="264449" y="2434"/>
                </a:moveTo>
                <a:cubicBezTo>
                  <a:pt x="270326" y="0"/>
                  <a:pt x="277091" y="1346"/>
                  <a:pt x="281587" y="5846"/>
                </a:cubicBezTo>
                <a:lnTo>
                  <a:pt x="340489" y="64747"/>
                </a:lnTo>
                <a:cubicBezTo>
                  <a:pt x="346627" y="70887"/>
                  <a:pt x="346627" y="80841"/>
                  <a:pt x="340489" y="86981"/>
                </a:cubicBezTo>
                <a:lnTo>
                  <a:pt x="281587" y="145882"/>
                </a:lnTo>
                <a:cubicBezTo>
                  <a:pt x="277091" y="150378"/>
                  <a:pt x="270329" y="151722"/>
                  <a:pt x="264454" y="149289"/>
                </a:cubicBezTo>
                <a:cubicBezTo>
                  <a:pt x="258579" y="146856"/>
                  <a:pt x="254748" y="141124"/>
                  <a:pt x="254747" y="134765"/>
                </a:cubicBezTo>
                <a:lnTo>
                  <a:pt x="254747" y="95519"/>
                </a:lnTo>
                <a:lnTo>
                  <a:pt x="161678" y="95519"/>
                </a:lnTo>
                <a:cubicBezTo>
                  <a:pt x="154209" y="95519"/>
                  <a:pt x="146787" y="98664"/>
                  <a:pt x="141127" y="104670"/>
                </a:cubicBezTo>
                <a:cubicBezTo>
                  <a:pt x="135208" y="111093"/>
                  <a:pt x="131949" y="119522"/>
                  <a:pt x="132007" y="128256"/>
                </a:cubicBezTo>
                <a:cubicBezTo>
                  <a:pt x="132007" y="137313"/>
                  <a:pt x="135419" y="145788"/>
                  <a:pt x="141127" y="151841"/>
                </a:cubicBezTo>
                <a:cubicBezTo>
                  <a:pt x="146787" y="157864"/>
                  <a:pt x="154209" y="161008"/>
                  <a:pt x="161678" y="161008"/>
                </a:cubicBezTo>
                <a:lnTo>
                  <a:pt x="201144" y="161008"/>
                </a:lnTo>
                <a:cubicBezTo>
                  <a:pt x="219824" y="161008"/>
                  <a:pt x="237482" y="168902"/>
                  <a:pt x="250313" y="182550"/>
                </a:cubicBezTo>
                <a:cubicBezTo>
                  <a:pt x="263091" y="196263"/>
                  <a:pt x="270169" y="214327"/>
                  <a:pt x="270109" y="233071"/>
                </a:cubicBezTo>
                <a:cubicBezTo>
                  <a:pt x="270171" y="251815"/>
                  <a:pt x="263092" y="269879"/>
                  <a:pt x="250313" y="283591"/>
                </a:cubicBezTo>
                <a:cubicBezTo>
                  <a:pt x="237600" y="297261"/>
                  <a:pt x="219796" y="305059"/>
                  <a:pt x="201129" y="305133"/>
                </a:cubicBezTo>
                <a:lnTo>
                  <a:pt x="91880" y="305133"/>
                </a:lnTo>
                <a:lnTo>
                  <a:pt x="91880" y="344364"/>
                </a:lnTo>
                <a:cubicBezTo>
                  <a:pt x="91878" y="350722"/>
                  <a:pt x="88047" y="356454"/>
                  <a:pt x="82173" y="358888"/>
                </a:cubicBezTo>
                <a:cubicBezTo>
                  <a:pt x="76298" y="361321"/>
                  <a:pt x="69536" y="359976"/>
                  <a:pt x="65039" y="355481"/>
                </a:cubicBezTo>
                <a:lnTo>
                  <a:pt x="6138" y="296579"/>
                </a:lnTo>
                <a:cubicBezTo>
                  <a:pt x="0" y="290439"/>
                  <a:pt x="0" y="280486"/>
                  <a:pt x="6138" y="274346"/>
                </a:cubicBezTo>
                <a:lnTo>
                  <a:pt x="65039" y="215444"/>
                </a:lnTo>
                <a:cubicBezTo>
                  <a:pt x="69536" y="210949"/>
                  <a:pt x="76298" y="209604"/>
                  <a:pt x="82173" y="212037"/>
                </a:cubicBezTo>
                <a:cubicBezTo>
                  <a:pt x="88047" y="214471"/>
                  <a:pt x="91878" y="220202"/>
                  <a:pt x="91880" y="226561"/>
                </a:cubicBezTo>
                <a:lnTo>
                  <a:pt x="91880" y="265808"/>
                </a:lnTo>
                <a:lnTo>
                  <a:pt x="201160" y="265808"/>
                </a:lnTo>
                <a:cubicBezTo>
                  <a:pt x="208981" y="265728"/>
                  <a:pt x="216419" y="262415"/>
                  <a:pt x="221711" y="256656"/>
                </a:cubicBezTo>
                <a:cubicBezTo>
                  <a:pt x="227419" y="250587"/>
                  <a:pt x="230815" y="242128"/>
                  <a:pt x="230815" y="233071"/>
                </a:cubicBezTo>
                <a:cubicBezTo>
                  <a:pt x="230815" y="224014"/>
                  <a:pt x="227419" y="215539"/>
                  <a:pt x="221695" y="209485"/>
                </a:cubicBezTo>
                <a:cubicBezTo>
                  <a:pt x="216411" y="203714"/>
                  <a:pt x="208969" y="200394"/>
                  <a:pt x="201144" y="200318"/>
                </a:cubicBezTo>
                <a:lnTo>
                  <a:pt x="161693" y="200318"/>
                </a:lnTo>
                <a:cubicBezTo>
                  <a:pt x="143026" y="200244"/>
                  <a:pt x="125222" y="192446"/>
                  <a:pt x="112509" y="178776"/>
                </a:cubicBezTo>
                <a:cubicBezTo>
                  <a:pt x="99737" y="165061"/>
                  <a:pt x="92664" y="146997"/>
                  <a:pt x="92729" y="128256"/>
                </a:cubicBezTo>
                <a:cubicBezTo>
                  <a:pt x="92729" y="109529"/>
                  <a:pt x="99726" y="91336"/>
                  <a:pt x="112509" y="77735"/>
                </a:cubicBezTo>
                <a:cubicBezTo>
                  <a:pt x="125222" y="64066"/>
                  <a:pt x="143026" y="56268"/>
                  <a:pt x="161693" y="56194"/>
                </a:cubicBezTo>
                <a:lnTo>
                  <a:pt x="254747" y="56194"/>
                </a:lnTo>
                <a:lnTo>
                  <a:pt x="254747" y="16978"/>
                </a:lnTo>
                <a:cubicBezTo>
                  <a:pt x="254745" y="10619"/>
                  <a:pt x="258574" y="4885"/>
                  <a:pt x="264449" y="2450"/>
                </a:cubicBezTo>
                <a:close/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34">
            <a:extLst>
              <a:ext uri="{FF2B5EF4-FFF2-40B4-BE49-F238E27FC236}">
                <a16:creationId xmlns:a16="http://schemas.microsoft.com/office/drawing/2014/main" id="{23BECC43-D79E-DE9B-AE74-23BB3CE088F5}"/>
              </a:ext>
            </a:extLst>
          </p:cNvPr>
          <p:cNvSpPr/>
          <p:nvPr/>
        </p:nvSpPr>
        <p:spPr>
          <a:xfrm>
            <a:off x="1800160" y="3166852"/>
            <a:ext cx="366963" cy="359676"/>
          </a:xfrm>
          <a:custGeom>
            <a:avLst/>
            <a:gdLst/>
            <a:ahLst/>
            <a:cxnLst/>
            <a:rect l="0" t="0" r="0" b="0"/>
            <a:pathLst>
              <a:path w="366963" h="359676">
                <a:moveTo>
                  <a:pt x="269301" y="0"/>
                </a:moveTo>
                <a:cubicBezTo>
                  <a:pt x="284498" y="0"/>
                  <a:pt x="296818" y="12319"/>
                  <a:pt x="296818" y="27516"/>
                </a:cubicBezTo>
                <a:lnTo>
                  <a:pt x="296818" y="75946"/>
                </a:lnTo>
                <a:cubicBezTo>
                  <a:pt x="289043" y="75175"/>
                  <a:pt x="281264" y="77371"/>
                  <a:pt x="275040" y="82094"/>
                </a:cubicBezTo>
                <a:lnTo>
                  <a:pt x="289176" y="100994"/>
                </a:lnTo>
                <a:cubicBezTo>
                  <a:pt x="291290" y="99388"/>
                  <a:pt x="294077" y="98973"/>
                  <a:pt x="296566" y="99893"/>
                </a:cubicBezTo>
                <a:lnTo>
                  <a:pt x="296566" y="99924"/>
                </a:lnTo>
                <a:cubicBezTo>
                  <a:pt x="299521" y="100983"/>
                  <a:pt x="301553" y="103709"/>
                  <a:pt x="301724" y="106843"/>
                </a:cubicBezTo>
                <a:lnTo>
                  <a:pt x="304837" y="158936"/>
                </a:lnTo>
                <a:lnTo>
                  <a:pt x="352559" y="158936"/>
                </a:lnTo>
                <a:cubicBezTo>
                  <a:pt x="355328" y="158932"/>
                  <a:pt x="357895" y="160385"/>
                  <a:pt x="359317" y="162761"/>
                </a:cubicBezTo>
                <a:cubicBezTo>
                  <a:pt x="360739" y="165137"/>
                  <a:pt x="360806" y="168086"/>
                  <a:pt x="359493" y="170524"/>
                </a:cubicBezTo>
                <a:lnTo>
                  <a:pt x="336646" y="213136"/>
                </a:lnTo>
                <a:lnTo>
                  <a:pt x="365201" y="253860"/>
                </a:lnTo>
                <a:cubicBezTo>
                  <a:pt x="366542" y="255774"/>
                  <a:pt x="366963" y="258184"/>
                  <a:pt x="366349" y="260439"/>
                </a:cubicBezTo>
                <a:cubicBezTo>
                  <a:pt x="365735" y="262693"/>
                  <a:pt x="364151" y="264558"/>
                  <a:pt x="362024" y="265527"/>
                </a:cubicBezTo>
                <a:lnTo>
                  <a:pt x="318501" y="285371"/>
                </a:lnTo>
                <a:lnTo>
                  <a:pt x="267713" y="234583"/>
                </a:lnTo>
                <a:lnTo>
                  <a:pt x="281566" y="220746"/>
                </a:lnTo>
                <a:cubicBezTo>
                  <a:pt x="286063" y="216247"/>
                  <a:pt x="287407" y="209481"/>
                  <a:pt x="284970" y="203605"/>
                </a:cubicBezTo>
                <a:cubicBezTo>
                  <a:pt x="282533" y="197729"/>
                  <a:pt x="276795" y="193900"/>
                  <a:pt x="270433" y="193906"/>
                </a:cubicBezTo>
                <a:lnTo>
                  <a:pt x="220903" y="193906"/>
                </a:lnTo>
                <a:cubicBezTo>
                  <a:pt x="216563" y="193789"/>
                  <a:pt x="212367" y="195476"/>
                  <a:pt x="209316" y="198566"/>
                </a:cubicBezTo>
                <a:cubicBezTo>
                  <a:pt x="206265" y="201656"/>
                  <a:pt x="204631" y="205872"/>
                  <a:pt x="204802" y="210211"/>
                </a:cubicBezTo>
                <a:lnTo>
                  <a:pt x="204802" y="259537"/>
                </a:lnTo>
                <a:cubicBezTo>
                  <a:pt x="204797" y="265898"/>
                  <a:pt x="208626" y="271636"/>
                  <a:pt x="214502" y="274073"/>
                </a:cubicBezTo>
                <a:cubicBezTo>
                  <a:pt x="220378" y="276510"/>
                  <a:pt x="227144" y="275167"/>
                  <a:pt x="231643" y="270669"/>
                </a:cubicBezTo>
                <a:lnTo>
                  <a:pt x="245480" y="256832"/>
                </a:lnTo>
                <a:lnTo>
                  <a:pt x="292682" y="304035"/>
                </a:lnTo>
                <a:lnTo>
                  <a:pt x="278232" y="353597"/>
                </a:lnTo>
                <a:cubicBezTo>
                  <a:pt x="277499" y="356106"/>
                  <a:pt x="275566" y="358087"/>
                  <a:pt x="273075" y="358881"/>
                </a:cubicBezTo>
                <a:cubicBezTo>
                  <a:pt x="270584" y="359676"/>
                  <a:pt x="267862" y="359180"/>
                  <a:pt x="265810" y="357559"/>
                </a:cubicBezTo>
                <a:lnTo>
                  <a:pt x="232822" y="331457"/>
                </a:lnTo>
                <a:lnTo>
                  <a:pt x="181641" y="346804"/>
                </a:lnTo>
                <a:cubicBezTo>
                  <a:pt x="179260" y="347520"/>
                  <a:pt x="176680" y="347067"/>
                  <a:pt x="174685" y="345583"/>
                </a:cubicBezTo>
                <a:cubicBezTo>
                  <a:pt x="172689" y="344099"/>
                  <a:pt x="171514" y="341759"/>
                  <a:pt x="171515" y="339272"/>
                </a:cubicBezTo>
                <a:lnTo>
                  <a:pt x="171515" y="288280"/>
                </a:lnTo>
                <a:lnTo>
                  <a:pt x="119107" y="274396"/>
                </a:lnTo>
                <a:cubicBezTo>
                  <a:pt x="116300" y="273653"/>
                  <a:pt x="114131" y="271422"/>
                  <a:pt x="113466" y="268596"/>
                </a:cubicBezTo>
                <a:cubicBezTo>
                  <a:pt x="112802" y="265769"/>
                  <a:pt x="113749" y="262806"/>
                  <a:pt x="115931" y="260889"/>
                </a:cubicBezTo>
                <a:lnTo>
                  <a:pt x="155807" y="225856"/>
                </a:lnTo>
                <a:lnTo>
                  <a:pt x="126167" y="180195"/>
                </a:lnTo>
                <a:cubicBezTo>
                  <a:pt x="124643" y="177840"/>
                  <a:pt x="124489" y="174851"/>
                  <a:pt x="125763" y="172352"/>
                </a:cubicBezTo>
                <a:cubicBezTo>
                  <a:pt x="127036" y="169853"/>
                  <a:pt x="129546" y="168221"/>
                  <a:pt x="132347" y="168071"/>
                </a:cubicBezTo>
                <a:lnTo>
                  <a:pt x="186311" y="165210"/>
                </a:lnTo>
                <a:lnTo>
                  <a:pt x="189927" y="123699"/>
                </a:lnTo>
                <a:lnTo>
                  <a:pt x="190022" y="122567"/>
                </a:lnTo>
                <a:lnTo>
                  <a:pt x="190132" y="121372"/>
                </a:lnTo>
                <a:lnTo>
                  <a:pt x="191201" y="108997"/>
                </a:lnTo>
                <a:cubicBezTo>
                  <a:pt x="191452" y="106144"/>
                  <a:pt x="193235" y="103653"/>
                  <a:pt x="195855" y="102495"/>
                </a:cubicBezTo>
                <a:cubicBezTo>
                  <a:pt x="198475" y="101337"/>
                  <a:pt x="201517" y="101696"/>
                  <a:pt x="203796" y="103431"/>
                </a:cubicBezTo>
                <a:lnTo>
                  <a:pt x="213670" y="110947"/>
                </a:lnTo>
                <a:lnTo>
                  <a:pt x="214645" y="111686"/>
                </a:lnTo>
                <a:lnTo>
                  <a:pt x="230400" y="123699"/>
                </a:lnTo>
                <a:lnTo>
                  <a:pt x="230369" y="123699"/>
                </a:lnTo>
                <a:lnTo>
                  <a:pt x="244458" y="134438"/>
                </a:lnTo>
                <a:lnTo>
                  <a:pt x="258813" y="123699"/>
                </a:lnTo>
                <a:lnTo>
                  <a:pt x="258782" y="123699"/>
                </a:lnTo>
                <a:lnTo>
                  <a:pt x="278232" y="109154"/>
                </a:lnTo>
                <a:lnTo>
                  <a:pt x="278264" y="109139"/>
                </a:lnTo>
                <a:lnTo>
                  <a:pt x="279600" y="108148"/>
                </a:lnTo>
                <a:lnTo>
                  <a:pt x="289160" y="100994"/>
                </a:lnTo>
                <a:lnTo>
                  <a:pt x="275040" y="82094"/>
                </a:lnTo>
                <a:lnTo>
                  <a:pt x="244583" y="104862"/>
                </a:lnTo>
                <a:lnTo>
                  <a:pt x="218104" y="84672"/>
                </a:lnTo>
                <a:cubicBezTo>
                  <a:pt x="198371" y="69640"/>
                  <a:pt x="169848" y="82267"/>
                  <a:pt x="167710" y="106953"/>
                </a:cubicBezTo>
                <a:lnTo>
                  <a:pt x="166247" y="123699"/>
                </a:lnTo>
                <a:lnTo>
                  <a:pt x="27516" y="123699"/>
                </a:lnTo>
                <a:cubicBezTo>
                  <a:pt x="12311" y="123699"/>
                  <a:pt x="0" y="111387"/>
                  <a:pt x="0" y="96182"/>
                </a:cubicBezTo>
                <a:lnTo>
                  <a:pt x="0" y="27516"/>
                </a:lnTo>
                <a:cubicBezTo>
                  <a:pt x="0" y="12319"/>
                  <a:pt x="12319" y="0"/>
                  <a:pt x="27516" y="0"/>
                </a:cubicBezTo>
                <a:close/>
                <a:moveTo>
                  <a:pt x="60780" y="42449"/>
                </a:moveTo>
                <a:cubicBezTo>
                  <a:pt x="49952" y="42449"/>
                  <a:pt x="41091" y="51065"/>
                  <a:pt x="40787" y="61888"/>
                </a:cubicBezTo>
                <a:cubicBezTo>
                  <a:pt x="40583" y="69165"/>
                  <a:pt x="44348" y="75978"/>
                  <a:pt x="50618" y="79676"/>
                </a:cubicBezTo>
                <a:cubicBezTo>
                  <a:pt x="56888" y="83374"/>
                  <a:pt x="64672" y="83374"/>
                  <a:pt x="70942" y="79676"/>
                </a:cubicBezTo>
                <a:cubicBezTo>
                  <a:pt x="77211" y="75978"/>
                  <a:pt x="80977" y="69165"/>
                  <a:pt x="80773" y="61888"/>
                </a:cubicBezTo>
                <a:cubicBezTo>
                  <a:pt x="80469" y="51065"/>
                  <a:pt x="71607" y="42449"/>
                  <a:pt x="60780" y="42449"/>
                </a:cubicBezTo>
                <a:close/>
                <a:moveTo>
                  <a:pt x="127582" y="81889"/>
                </a:moveTo>
                <a:cubicBezTo>
                  <a:pt x="138630" y="81891"/>
                  <a:pt x="147587" y="72936"/>
                  <a:pt x="147587" y="61888"/>
                </a:cubicBezTo>
                <a:cubicBezTo>
                  <a:pt x="147587" y="50841"/>
                  <a:pt x="138630" y="41886"/>
                  <a:pt x="127582" y="41888"/>
                </a:cubicBezTo>
                <a:cubicBezTo>
                  <a:pt x="116538" y="41890"/>
                  <a:pt x="107585" y="50844"/>
                  <a:pt x="107585" y="61888"/>
                </a:cubicBezTo>
                <a:cubicBezTo>
                  <a:pt x="107585" y="72933"/>
                  <a:pt x="116538" y="81887"/>
                  <a:pt x="127582" y="81889"/>
                </a:cubicBezTo>
                <a:close/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35">
            <a:extLst>
              <a:ext uri="{FF2B5EF4-FFF2-40B4-BE49-F238E27FC236}">
                <a16:creationId xmlns:a16="http://schemas.microsoft.com/office/drawing/2014/main" id="{AE5E6D6C-0857-CEAF-0F6B-4F4058864D9B}"/>
              </a:ext>
            </a:extLst>
          </p:cNvPr>
          <p:cNvSpPr/>
          <p:nvPr/>
        </p:nvSpPr>
        <p:spPr>
          <a:xfrm>
            <a:off x="2760189" y="5430056"/>
            <a:ext cx="346524" cy="361402"/>
          </a:xfrm>
          <a:custGeom>
            <a:avLst/>
            <a:gdLst/>
            <a:ahLst/>
            <a:cxnLst/>
            <a:rect l="0" t="0" r="0" b="0"/>
            <a:pathLst>
              <a:path w="346524" h="361402">
                <a:moveTo>
                  <a:pt x="112664" y="356004"/>
                </a:moveTo>
                <a:cubicBezTo>
                  <a:pt x="91641" y="361402"/>
                  <a:pt x="70221" y="348739"/>
                  <a:pt x="64817" y="327717"/>
                </a:cubicBezTo>
                <a:lnTo>
                  <a:pt x="5396" y="96263"/>
                </a:lnTo>
                <a:cubicBezTo>
                  <a:pt x="0" y="75234"/>
                  <a:pt x="12671" y="53812"/>
                  <a:pt x="33699" y="48415"/>
                </a:cubicBezTo>
                <a:lnTo>
                  <a:pt x="201865" y="5238"/>
                </a:lnTo>
                <a:cubicBezTo>
                  <a:pt x="222278" y="0"/>
                  <a:pt x="243190" y="11791"/>
                  <a:pt x="249273" y="31968"/>
                </a:cubicBezTo>
                <a:cubicBezTo>
                  <a:pt x="232574" y="20330"/>
                  <a:pt x="209754" y="23363"/>
                  <a:pt x="196676" y="38959"/>
                </a:cubicBezTo>
                <a:cubicBezTo>
                  <a:pt x="183597" y="54555"/>
                  <a:pt x="184587" y="77555"/>
                  <a:pt x="198957" y="91970"/>
                </a:cubicBezTo>
                <a:lnTo>
                  <a:pt x="222416" y="115430"/>
                </a:lnTo>
                <a:lnTo>
                  <a:pt x="198957" y="138890"/>
                </a:lnTo>
                <a:cubicBezTo>
                  <a:pt x="188952" y="148805"/>
                  <a:pt x="185017" y="163314"/>
                  <a:pt x="188640" y="176925"/>
                </a:cubicBezTo>
                <a:cubicBezTo>
                  <a:pt x="192264" y="190535"/>
                  <a:pt x="202893" y="201167"/>
                  <a:pt x="216503" y="204795"/>
                </a:cubicBezTo>
                <a:cubicBezTo>
                  <a:pt x="230112" y="208422"/>
                  <a:pt x="244623" y="204491"/>
                  <a:pt x="254540" y="194489"/>
                </a:cubicBezTo>
                <a:lnTo>
                  <a:pt x="278000" y="171029"/>
                </a:lnTo>
                <a:lnTo>
                  <a:pt x="287434" y="180464"/>
                </a:lnTo>
                <a:lnTo>
                  <a:pt x="309133" y="264979"/>
                </a:lnTo>
                <a:cubicBezTo>
                  <a:pt x="314530" y="286008"/>
                  <a:pt x="301859" y="307430"/>
                  <a:pt x="280830" y="312827"/>
                </a:cubicBezTo>
                <a:close/>
                <a:moveTo>
                  <a:pt x="215624" y="177806"/>
                </a:moveTo>
                <a:cubicBezTo>
                  <a:pt x="209486" y="171666"/>
                  <a:pt x="209486" y="161713"/>
                  <a:pt x="215624" y="155573"/>
                </a:cubicBezTo>
                <a:lnTo>
                  <a:pt x="255767" y="115430"/>
                </a:lnTo>
                <a:lnTo>
                  <a:pt x="215624" y="75303"/>
                </a:lnTo>
                <a:cubicBezTo>
                  <a:pt x="209484" y="69159"/>
                  <a:pt x="209488" y="59201"/>
                  <a:pt x="215632" y="53062"/>
                </a:cubicBezTo>
                <a:cubicBezTo>
                  <a:pt x="221776" y="46922"/>
                  <a:pt x="231733" y="46926"/>
                  <a:pt x="237873" y="53069"/>
                </a:cubicBezTo>
                <a:lnTo>
                  <a:pt x="278000" y="93197"/>
                </a:lnTo>
                <a:lnTo>
                  <a:pt x="318143" y="53054"/>
                </a:lnTo>
                <a:cubicBezTo>
                  <a:pt x="324287" y="46914"/>
                  <a:pt x="334245" y="46918"/>
                  <a:pt x="340384" y="53062"/>
                </a:cubicBezTo>
                <a:cubicBezTo>
                  <a:pt x="346524" y="59206"/>
                  <a:pt x="346520" y="69163"/>
                  <a:pt x="340376" y="75303"/>
                </a:cubicBezTo>
                <a:lnTo>
                  <a:pt x="300234" y="115430"/>
                </a:lnTo>
                <a:lnTo>
                  <a:pt x="340376" y="155573"/>
                </a:lnTo>
                <a:cubicBezTo>
                  <a:pt x="346520" y="161713"/>
                  <a:pt x="346524" y="171670"/>
                  <a:pt x="340384" y="177814"/>
                </a:cubicBezTo>
                <a:cubicBezTo>
                  <a:pt x="334245" y="183958"/>
                  <a:pt x="324287" y="183962"/>
                  <a:pt x="318143" y="177822"/>
                </a:cubicBezTo>
                <a:lnTo>
                  <a:pt x="278000" y="137679"/>
                </a:lnTo>
                <a:lnTo>
                  <a:pt x="237873" y="177806"/>
                </a:lnTo>
                <a:cubicBezTo>
                  <a:pt x="234924" y="180759"/>
                  <a:pt x="230922" y="182418"/>
                  <a:pt x="226748" y="182418"/>
                </a:cubicBezTo>
                <a:cubicBezTo>
                  <a:pt x="222575" y="182418"/>
                  <a:pt x="218573" y="180759"/>
                  <a:pt x="215624" y="177806"/>
                </a:cubicBezTo>
                <a:close/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36">
            <a:extLst>
              <a:ext uri="{FF2B5EF4-FFF2-40B4-BE49-F238E27FC236}">
                <a16:creationId xmlns:a16="http://schemas.microsoft.com/office/drawing/2014/main" id="{055E5E37-C066-40A6-52D8-77CE848EC149}"/>
              </a:ext>
            </a:extLst>
          </p:cNvPr>
          <p:cNvSpPr/>
          <p:nvPr/>
        </p:nvSpPr>
        <p:spPr>
          <a:xfrm>
            <a:off x="1480306" y="2403021"/>
            <a:ext cx="376872" cy="370390"/>
          </a:xfrm>
          <a:custGeom>
            <a:avLst/>
            <a:gdLst/>
            <a:ahLst/>
            <a:cxnLst/>
            <a:rect l="0" t="0" r="0" b="0"/>
            <a:pathLst>
              <a:path w="376872" h="370390">
                <a:moveTo>
                  <a:pt x="0" y="0"/>
                </a:moveTo>
                <a:moveTo>
                  <a:pt x="300859" y="47155"/>
                </a:moveTo>
                <a:lnTo>
                  <a:pt x="179597" y="47155"/>
                </a:lnTo>
                <a:lnTo>
                  <a:pt x="76134" y="47155"/>
                </a:lnTo>
                <a:cubicBezTo>
                  <a:pt x="67633" y="47155"/>
                  <a:pt x="60741" y="54047"/>
                  <a:pt x="60741" y="62549"/>
                </a:cubicBezTo>
                <a:lnTo>
                  <a:pt x="60741" y="129831"/>
                </a:lnTo>
                <a:lnTo>
                  <a:pt x="78194" y="129831"/>
                </a:lnTo>
                <a:cubicBezTo>
                  <a:pt x="82961" y="129835"/>
                  <a:pt x="87256" y="132708"/>
                  <a:pt x="89079" y="137112"/>
                </a:cubicBezTo>
                <a:cubicBezTo>
                  <a:pt x="90903" y="141516"/>
                  <a:pt x="89896" y="146585"/>
                  <a:pt x="86528" y="149957"/>
                </a:cubicBezTo>
                <a:lnTo>
                  <a:pt x="54027" y="182443"/>
                </a:lnTo>
                <a:cubicBezTo>
                  <a:pt x="49422" y="187041"/>
                  <a:pt x="41964" y="187041"/>
                  <a:pt x="37359" y="182443"/>
                </a:cubicBezTo>
                <a:lnTo>
                  <a:pt x="4874" y="149973"/>
                </a:lnTo>
                <a:cubicBezTo>
                  <a:pt x="1506" y="146601"/>
                  <a:pt x="499" y="141532"/>
                  <a:pt x="2322" y="137128"/>
                </a:cubicBezTo>
                <a:cubicBezTo>
                  <a:pt x="4146" y="132724"/>
                  <a:pt x="8441" y="129851"/>
                  <a:pt x="13207" y="129847"/>
                </a:cubicBezTo>
                <a:lnTo>
                  <a:pt x="29293" y="129847"/>
                </a:lnTo>
                <a:lnTo>
                  <a:pt x="29293" y="62549"/>
                </a:lnTo>
                <a:cubicBezTo>
                  <a:pt x="29293" y="36673"/>
                  <a:pt x="50274" y="15699"/>
                  <a:pt x="76150" y="15708"/>
                </a:cubicBezTo>
                <a:lnTo>
                  <a:pt x="179613" y="15708"/>
                </a:lnTo>
                <a:lnTo>
                  <a:pt x="300843" y="15708"/>
                </a:lnTo>
                <a:cubicBezTo>
                  <a:pt x="326719" y="15699"/>
                  <a:pt x="347700" y="36673"/>
                  <a:pt x="347700" y="62549"/>
                </a:cubicBezTo>
                <a:lnTo>
                  <a:pt x="347700" y="81858"/>
                </a:lnTo>
                <a:cubicBezTo>
                  <a:pt x="347700" y="90542"/>
                  <a:pt x="340660" y="97581"/>
                  <a:pt x="331976" y="97581"/>
                </a:cubicBezTo>
                <a:cubicBezTo>
                  <a:pt x="323292" y="97581"/>
                  <a:pt x="316252" y="90542"/>
                  <a:pt x="316252" y="81858"/>
                </a:cubicBezTo>
                <a:lnTo>
                  <a:pt x="316252" y="62549"/>
                </a:lnTo>
                <a:cubicBezTo>
                  <a:pt x="316252" y="58463"/>
                  <a:pt x="314628" y="54546"/>
                  <a:pt x="311738" y="51658"/>
                </a:cubicBezTo>
                <a:cubicBezTo>
                  <a:pt x="308848" y="48771"/>
                  <a:pt x="304928" y="47151"/>
                  <a:pt x="300843" y="47155"/>
                </a:cubicBezTo>
                <a:close/>
                <a:moveTo>
                  <a:pt x="347700" y="185886"/>
                </a:moveTo>
                <a:lnTo>
                  <a:pt x="347700" y="255228"/>
                </a:lnTo>
                <a:cubicBezTo>
                  <a:pt x="347700" y="281104"/>
                  <a:pt x="326719" y="302078"/>
                  <a:pt x="300843" y="302070"/>
                </a:cubicBezTo>
                <a:lnTo>
                  <a:pt x="156499" y="302070"/>
                </a:lnTo>
                <a:lnTo>
                  <a:pt x="78351" y="356065"/>
                </a:lnTo>
                <a:cubicBezTo>
                  <a:pt x="57596" y="370390"/>
                  <a:pt x="29293" y="355546"/>
                  <a:pt x="29293" y="330325"/>
                </a:cubicBezTo>
                <a:lnTo>
                  <a:pt x="29293" y="231265"/>
                </a:lnTo>
                <a:cubicBezTo>
                  <a:pt x="29293" y="222581"/>
                  <a:pt x="36333" y="215541"/>
                  <a:pt x="45017" y="215541"/>
                </a:cubicBezTo>
                <a:cubicBezTo>
                  <a:pt x="53701" y="215541"/>
                  <a:pt x="60741" y="222581"/>
                  <a:pt x="60741" y="231265"/>
                </a:cubicBezTo>
                <a:lnTo>
                  <a:pt x="60741" y="330011"/>
                </a:lnTo>
                <a:lnTo>
                  <a:pt x="142662" y="273421"/>
                </a:lnTo>
                <a:cubicBezTo>
                  <a:pt x="145292" y="271606"/>
                  <a:pt x="148413" y="270635"/>
                  <a:pt x="151608" y="270638"/>
                </a:cubicBezTo>
                <a:lnTo>
                  <a:pt x="300859" y="270638"/>
                </a:lnTo>
                <a:cubicBezTo>
                  <a:pt x="309357" y="270620"/>
                  <a:pt x="316237" y="263726"/>
                  <a:pt x="316237" y="255228"/>
                </a:cubicBezTo>
                <a:lnTo>
                  <a:pt x="316237" y="185871"/>
                </a:lnTo>
                <a:lnTo>
                  <a:pt x="299176" y="185871"/>
                </a:lnTo>
                <a:cubicBezTo>
                  <a:pt x="294410" y="185866"/>
                  <a:pt x="290115" y="182993"/>
                  <a:pt x="288291" y="178589"/>
                </a:cubicBezTo>
                <a:cubicBezTo>
                  <a:pt x="286468" y="174185"/>
                  <a:pt x="287474" y="169117"/>
                  <a:pt x="290843" y="165744"/>
                </a:cubicBezTo>
                <a:lnTo>
                  <a:pt x="323344" y="133259"/>
                </a:lnTo>
                <a:cubicBezTo>
                  <a:pt x="327948" y="128660"/>
                  <a:pt x="335407" y="128660"/>
                  <a:pt x="340011" y="133259"/>
                </a:cubicBezTo>
                <a:lnTo>
                  <a:pt x="372497" y="165744"/>
                </a:lnTo>
                <a:cubicBezTo>
                  <a:pt x="375865" y="169117"/>
                  <a:pt x="376872" y="174185"/>
                  <a:pt x="375048" y="178589"/>
                </a:cubicBezTo>
                <a:cubicBezTo>
                  <a:pt x="373225" y="182993"/>
                  <a:pt x="368929" y="185866"/>
                  <a:pt x="364163" y="185871"/>
                </a:cubicBezTo>
                <a:lnTo>
                  <a:pt x="347700" y="185871"/>
                </a:lnTo>
                <a:close/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42B36E-B087-ADC7-1BBA-7FF1B5F99F60}"/>
              </a:ext>
            </a:extLst>
          </p:cNvPr>
          <p:cNvSpPr txBox="1"/>
          <p:nvPr/>
        </p:nvSpPr>
        <p:spPr>
          <a:xfrm>
            <a:off x="6496201" y="2396495"/>
            <a:ext cx="123825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Shantell Sans"/>
              </a:rPr>
              <a:t>Retrieve chat history
using user and
session IDs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4DCCD1-E65C-1847-8A39-D39561957E2C}"/>
              </a:ext>
            </a:extLst>
          </p:cNvPr>
          <p:cNvSpPr txBox="1"/>
          <p:nvPr/>
        </p:nvSpPr>
        <p:spPr>
          <a:xfrm>
            <a:off x="3650978" y="5448172"/>
            <a:ext cx="1179285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Compose Final
Prompt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6C4A26-C965-7A15-2B8B-AB492EE54BB7}"/>
              </a:ext>
            </a:extLst>
          </p:cNvPr>
          <p:cNvSpPr txBox="1"/>
          <p:nvPr/>
        </p:nvSpPr>
        <p:spPr>
          <a:xfrm>
            <a:off x="3515989" y="2523544"/>
            <a:ext cx="1450521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Fetch Chat History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8FD210-6389-D7F8-E478-091A0365B331}"/>
              </a:ext>
            </a:extLst>
          </p:cNvPr>
          <p:cNvSpPr txBox="1"/>
          <p:nvPr/>
        </p:nvSpPr>
        <p:spPr>
          <a:xfrm>
            <a:off x="6181725" y="3127652"/>
            <a:ext cx="1132114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484848"/>
                </a:solidFill>
                <a:latin typeface="Shantell Sans"/>
              </a:rPr>
              <a:t>Determine if
summarization is
needed based on
message count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E6A0A1-BDAA-1F02-B1B7-038C07A52032}"/>
              </a:ext>
            </a:extLst>
          </p:cNvPr>
          <p:cNvSpPr txBox="1"/>
          <p:nvPr/>
        </p:nvSpPr>
        <p:spPr>
          <a:xfrm>
            <a:off x="3394051" y="1768801"/>
            <a:ext cx="1792514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Shantell Sans"/>
              </a:rPr>
              <a:t>Append to Cosmos DB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F625A5-BD7A-446B-379B-2448E3757393}"/>
              </a:ext>
            </a:extLst>
          </p:cNvPr>
          <p:cNvSpPr txBox="1"/>
          <p:nvPr/>
        </p:nvSpPr>
        <p:spPr>
          <a:xfrm>
            <a:off x="3393815" y="3278287"/>
            <a:ext cx="1745342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Shantell Sans"/>
              </a:rPr>
              <a:t>Check Message Count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91C714-8AED-F32F-61F3-B48FDBC2EAF4}"/>
              </a:ext>
            </a:extLst>
          </p:cNvPr>
          <p:cNvSpPr txBox="1"/>
          <p:nvPr/>
        </p:nvSpPr>
        <p:spPr>
          <a:xfrm>
            <a:off x="6810677" y="1618167"/>
            <a:ext cx="1261835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Shantell Sans"/>
              </a:rPr>
              <a:t>Message is stored in
the database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1D0CDA-AE36-0A20-4DE0-E8FB8989D050}"/>
              </a:ext>
            </a:extLst>
          </p:cNvPr>
          <p:cNvSpPr txBox="1"/>
          <p:nvPr/>
        </p:nvSpPr>
        <p:spPr>
          <a:xfrm>
            <a:off x="5859387" y="3905981"/>
            <a:ext cx="1309007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Shantell Sans"/>
              </a:rPr>
              <a:t>Divide chat history
into older and recent
messages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0B5048-1929-F2A4-2910-ABC06CA3A9B5}"/>
              </a:ext>
            </a:extLst>
          </p:cNvPr>
          <p:cNvSpPr txBox="1"/>
          <p:nvPr/>
        </p:nvSpPr>
        <p:spPr>
          <a:xfrm>
            <a:off x="3758765" y="4033029"/>
            <a:ext cx="955221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484848"/>
                </a:solidFill>
                <a:latin typeface="Shantell Sans"/>
              </a:rPr>
              <a:t>Split History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53106E-3A70-BAFB-4862-09A5CF99B67C}"/>
              </a:ext>
            </a:extLst>
          </p:cNvPr>
          <p:cNvSpPr txBox="1"/>
          <p:nvPr/>
        </p:nvSpPr>
        <p:spPr>
          <a:xfrm>
            <a:off x="3547122" y="4693429"/>
            <a:ext cx="1356178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Summarize Older
Messages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DECBDC-1A50-F63F-E427-17B4BD5B8FD4}"/>
              </a:ext>
            </a:extLst>
          </p:cNvPr>
          <p:cNvSpPr txBox="1"/>
          <p:nvPr/>
        </p:nvSpPr>
        <p:spPr>
          <a:xfrm>
            <a:off x="5544911" y="4660724"/>
            <a:ext cx="1285421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Shantell Sans"/>
              </a:rPr>
              <a:t>Generate a summary
of older messages
using LLM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C6656D-49DE-6506-5AD8-A7B6BDEBD01E}"/>
              </a:ext>
            </a:extLst>
          </p:cNvPr>
          <p:cNvSpPr txBox="1"/>
          <p:nvPr/>
        </p:nvSpPr>
        <p:spPr>
          <a:xfrm>
            <a:off x="5230435" y="5415467"/>
            <a:ext cx="1332592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Shantell Sans"/>
              </a:rPr>
              <a:t>Combine summary
with recent messages
for LLM input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957CB4-E8F8-04B9-68D5-7AC1AE1DE4E4}"/>
              </a:ext>
            </a:extLst>
          </p:cNvPr>
          <p:cNvSpPr txBox="1"/>
          <p:nvPr/>
        </p:nvSpPr>
        <p:spPr>
          <a:xfrm>
            <a:off x="817940" y="336597"/>
            <a:ext cx="3526064" cy="275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dirty="0">
                <a:solidFill>
                  <a:srgbClr val="484848"/>
                </a:solidFill>
                <a:latin typeface="Shantell Sans"/>
              </a:rPr>
              <a:t>Chat History Summarization Process</a:t>
            </a:r>
          </a:p>
        </p:txBody>
      </p:sp>
    </p:spTree>
    <p:extLst>
      <p:ext uri="{BB962C8B-B14F-4D97-AF65-F5344CB8AC3E}">
        <p14:creationId xmlns:p14="http://schemas.microsoft.com/office/powerpoint/2010/main" val="3571662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F0297D-892A-1CE0-A752-0B91BEA0D9AF}"/>
              </a:ext>
            </a:extLst>
          </p:cNvPr>
          <p:cNvSpPr txBox="1"/>
          <p:nvPr/>
        </p:nvSpPr>
        <p:spPr>
          <a:xfrm>
            <a:off x="542260" y="115685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previous session of a person should get retain ? once he login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6F96E-89E4-FC14-B011-95B893F98E08}"/>
              </a:ext>
            </a:extLst>
          </p:cNvPr>
          <p:cNvSpPr txBox="1"/>
          <p:nvPr/>
        </p:nvSpPr>
        <p:spPr>
          <a:xfrm>
            <a:off x="542260" y="372140"/>
            <a:ext cx="7262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Technical Requirement</a:t>
            </a:r>
          </a:p>
        </p:txBody>
      </p:sp>
    </p:spTree>
    <p:extLst>
      <p:ext uri="{BB962C8B-B14F-4D97-AF65-F5344CB8AC3E}">
        <p14:creationId xmlns:p14="http://schemas.microsoft.com/office/powerpoint/2010/main" val="224963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AFBBF1-50C5-3218-34B3-0DD0B3E05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10" y="1219142"/>
            <a:ext cx="9505797" cy="54326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4881FA-4D7E-97A6-D9B9-657A5B1D7610}"/>
              </a:ext>
            </a:extLst>
          </p:cNvPr>
          <p:cNvSpPr txBox="1"/>
          <p:nvPr/>
        </p:nvSpPr>
        <p:spPr>
          <a:xfrm>
            <a:off x="456910" y="372140"/>
            <a:ext cx="4008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Standard</a:t>
            </a:r>
            <a:r>
              <a:rPr lang="en-US" dirty="0"/>
              <a:t>  </a:t>
            </a:r>
            <a:r>
              <a:rPr lang="en-US" b="1" dirty="0"/>
              <a:t>Way</a:t>
            </a:r>
          </a:p>
        </p:txBody>
      </p:sp>
    </p:spTree>
    <p:extLst>
      <p:ext uri="{BB962C8B-B14F-4D97-AF65-F5344CB8AC3E}">
        <p14:creationId xmlns:p14="http://schemas.microsoft.com/office/powerpoint/2010/main" val="1064563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4214A2-B789-036B-3D65-2A0A9AE97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23" y="1540192"/>
            <a:ext cx="10255777" cy="48834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9B06AE-796E-435F-EBE5-CE768785DD46}"/>
              </a:ext>
            </a:extLst>
          </p:cNvPr>
          <p:cNvSpPr txBox="1"/>
          <p:nvPr/>
        </p:nvSpPr>
        <p:spPr>
          <a:xfrm>
            <a:off x="255181" y="361507"/>
            <a:ext cx="1626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API FLOW</a:t>
            </a:r>
          </a:p>
        </p:txBody>
      </p:sp>
    </p:spTree>
    <p:extLst>
      <p:ext uri="{BB962C8B-B14F-4D97-AF65-F5344CB8AC3E}">
        <p14:creationId xmlns:p14="http://schemas.microsoft.com/office/powerpoint/2010/main" val="1749172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38613</TotalTime>
  <Words>2548</Words>
  <Application>Microsoft Office PowerPoint</Application>
  <PresentationFormat>Widescreen</PresentationFormat>
  <Paragraphs>375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 Narrow</vt:lpstr>
      <vt:lpstr>Arial</vt:lpstr>
      <vt:lpstr>Arial Unicode MS</vt:lpstr>
      <vt:lpstr>Calibri</vt:lpstr>
      <vt:lpstr>Calibri Light</vt:lpstr>
      <vt:lpstr>Courier New</vt:lpstr>
      <vt:lpstr>Segoe UI</vt:lpstr>
      <vt:lpstr>Shantell Sans</vt:lpstr>
      <vt:lpstr>Office Theme</vt:lpstr>
      <vt:lpstr>Nexora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Deepankar Santosh Pawar</dc:creator>
  <cp:lastModifiedBy>Deepankar Santosh Pawar</cp:lastModifiedBy>
  <cp:revision>6</cp:revision>
  <dcterms:created xsi:type="dcterms:W3CDTF">2025-07-14T12:12:26Z</dcterms:created>
  <dcterms:modified xsi:type="dcterms:W3CDTF">2025-09-18T12:42:55Z</dcterms:modified>
</cp:coreProperties>
</file>